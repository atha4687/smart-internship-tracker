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nternship-hero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0C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fiel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61F"/>
          </a:solidFill>
          <a:ln>
            <a:noFill/>
          </a:ln>
        </p:spPr>
      </p:sp>
      <p:pic>
        <p:nvPicPr>
          <p:cNvPr id="3" name="internship workspace 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685800"/>
            <a:ext cx="5943600" cy="3794760"/>
          </a:xfrm>
          <a:prstGeom prst="rect">
            <a:avLst/>
          </a:prstGeom>
        </p:spPr>
      </p:pic>
      <p:sp>
        <p:nvSpPr>
          <p:cNvPr id="4" name="image frame"/>
          <p:cNvSpPr/>
          <p:nvPr/>
        </p:nvSpPr>
        <p:spPr>
          <a:xfrm>
            <a:off x="5715000" y="896112"/>
            <a:ext cx="5413248" cy="3383280"/>
          </a:xfrm>
          <a:prstGeom prst="rect">
            <a:avLst/>
          </a:prstGeom>
          <a:noFill/>
          <a:ln w="12700">
            <a:solidFill>
              <a:srgbClr val="D99B2B"/>
            </a:solidFill>
          </a:ln>
        </p:spPr>
      </p:sp>
      <p:sp>
        <p:nvSpPr>
          <p:cNvPr id="5" name="pill"/>
          <p:cNvSpPr/>
          <p:nvPr/>
        </p:nvSpPr>
        <p:spPr>
          <a:xfrm>
            <a:off x="658368" y="713232"/>
            <a:ext cx="2560320" cy="384048"/>
          </a:xfrm>
          <a:prstGeom prst="roundRect">
            <a:avLst/>
          </a:prstGeom>
          <a:solidFill>
            <a:srgbClr val="28785F"/>
          </a:solidFill>
          <a:ln>
            <a:noFill/>
          </a:ln>
        </p:spPr>
      </p:sp>
      <p:sp>
        <p:nvSpPr>
          <p:cNvPr id="6" name="pill-label"/>
          <p:cNvSpPr txBox="1"/>
          <p:nvPr/>
        </p:nvSpPr>
        <p:spPr>
          <a:xfrm>
            <a:off x="731519" y="749808"/>
            <a:ext cx="2414015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Aptos"/>
              </a:rPr>
              <a:t>Final project presentation</a:t>
            </a:r>
            <a:endParaRPr lang="en-US" sz="1350"/>
          </a:p>
        </p:txBody>
      </p:sp>
      <p:sp>
        <p:nvSpPr>
          <p:cNvPr id="7" name="cover-title"/>
          <p:cNvSpPr txBox="1"/>
          <p:nvPr/>
        </p:nvSpPr>
        <p:spPr>
          <a:xfrm>
            <a:off x="658368" y="1353312"/>
            <a:ext cx="4937760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4300" b="1">
                <a:solidFill>
                  <a:srgbClr val="FFFFFF"/>
                </a:solidFill>
                <a:latin typeface="Aptos"/>
              </a:rPr>
              <a:t>Smart Internship Tracker</a:t>
            </a:r>
            <a:endParaRPr lang="en-US" sz="4300"/>
          </a:p>
        </p:txBody>
      </p:sp>
      <p:sp>
        <p:nvSpPr>
          <p:cNvPr id="8" name="cover-subtitle"/>
          <p:cNvSpPr txBox="1"/>
          <p:nvPr/>
        </p:nvSpPr>
        <p:spPr>
          <a:xfrm>
            <a:off x="694944" y="2999232"/>
            <a:ext cx="49834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>
                <a:solidFill>
                  <a:srgbClr val="DDEFE7"/>
                </a:solidFill>
                <a:latin typeface="Aptos"/>
              </a:rPr>
              <a:t>A Flask and MySQL web app that helps students organize applications, deadlines, statuses, and notes in one place.</a:t>
            </a:r>
            <a:endParaRPr lang="en-US" sz="1700"/>
          </a:p>
        </p:txBody>
      </p:sp>
      <p:sp>
        <p:nvSpPr>
          <p:cNvPr id="9" name="github-line"/>
          <p:cNvSpPr txBox="1"/>
          <p:nvPr/>
        </p:nvSpPr>
        <p:spPr>
          <a:xfrm>
            <a:off x="694944" y="4041648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50" b="1">
                <a:solidFill>
                  <a:srgbClr val="9BE6BD"/>
                </a:solidFill>
                <a:latin typeface="Aptos"/>
              </a:rPr>
              <a:t>Team collaboration: GitHub repository for shared code, project files, and documentation.</a:t>
            </a:r>
            <a:endParaRPr lang="en-US" sz="1250"/>
          </a:p>
        </p:txBody>
      </p:sp>
      <p:sp>
        <p:nvSpPr>
          <p:cNvPr id="10" name="team-line"/>
          <p:cNvSpPr txBox="1"/>
          <p:nvPr/>
        </p:nvSpPr>
        <p:spPr>
          <a:xfrm>
            <a:off x="694944" y="598932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>
                <a:solidFill>
                  <a:srgbClr val="B9D7CC"/>
                </a:solidFill>
                <a:latin typeface="Aptos"/>
              </a:rPr>
              <a:t>Team: Alhaji Kargbo, Renae Washington, Langston Gwinn, Quincy King, Ali-Andro Thaxter</a:t>
            </a:r>
            <a:endParaRPr lang="en-US" sz="11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Rubric-Aligned Roadmap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10 minutes for presentation and live demo, then up to 5 minutes for Q&amp;A.</a:t>
            </a:r>
            <a:endParaRPr lang="en-US" sz="1500"/>
          </a:p>
        </p:txBody>
      </p:sp>
      <p:sp>
        <p:nvSpPr>
          <p:cNvPr id="5" name="Problem"/>
          <p:cNvSpPr/>
          <p:nvPr/>
        </p:nvSpPr>
        <p:spPr>
          <a:xfrm>
            <a:off x="685800" y="178308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68680" y="1984248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1</a:t>
            </a:r>
            <a:endParaRPr lang="en-US" sz="1050"/>
          </a:p>
        </p:txBody>
      </p:sp>
      <p:sp>
        <p:nvSpPr>
          <p:cNvPr id="7" name="text"/>
          <p:cNvSpPr txBox="1"/>
          <p:nvPr/>
        </p:nvSpPr>
        <p:spPr>
          <a:xfrm>
            <a:off x="1344168" y="19842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Problem</a:t>
            </a:r>
            <a:endParaRPr lang="en-US" sz="1180"/>
          </a:p>
        </p:txBody>
      </p:sp>
      <p:sp>
        <p:nvSpPr>
          <p:cNvPr id="8" name="Scope + features"/>
          <p:cNvSpPr/>
          <p:nvPr/>
        </p:nvSpPr>
        <p:spPr>
          <a:xfrm>
            <a:off x="4389120" y="178308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572000" y="1984248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2</a:t>
            </a:r>
            <a:endParaRPr lang="en-US" sz="1050"/>
          </a:p>
        </p:txBody>
      </p:sp>
      <p:sp>
        <p:nvSpPr>
          <p:cNvPr id="10" name="text"/>
          <p:cNvSpPr txBox="1"/>
          <p:nvPr/>
        </p:nvSpPr>
        <p:spPr>
          <a:xfrm>
            <a:off x="5047488" y="19842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Scope + features</a:t>
            </a:r>
            <a:endParaRPr lang="en-US" sz="1180"/>
          </a:p>
        </p:txBody>
      </p:sp>
      <p:sp>
        <p:nvSpPr>
          <p:cNvPr id="11" name="Methodology"/>
          <p:cNvSpPr/>
          <p:nvPr/>
        </p:nvSpPr>
        <p:spPr>
          <a:xfrm>
            <a:off x="8092440" y="178308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275319" y="1984248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3</a:t>
            </a:r>
            <a:endParaRPr lang="en-US" sz="1050"/>
          </a:p>
        </p:txBody>
      </p:sp>
      <p:sp>
        <p:nvSpPr>
          <p:cNvPr id="13" name="text"/>
          <p:cNvSpPr txBox="1"/>
          <p:nvPr/>
        </p:nvSpPr>
        <p:spPr>
          <a:xfrm>
            <a:off x="8750808" y="19842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Methodology</a:t>
            </a:r>
            <a:endParaRPr lang="en-US" sz="1180"/>
          </a:p>
        </p:txBody>
      </p:sp>
      <p:sp>
        <p:nvSpPr>
          <p:cNvPr id="14" name="Design"/>
          <p:cNvSpPr/>
          <p:nvPr/>
        </p:nvSpPr>
        <p:spPr>
          <a:xfrm>
            <a:off x="685800" y="2990088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68680" y="3191256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4</a:t>
            </a:r>
            <a:endParaRPr lang="en-US" sz="1050"/>
          </a:p>
        </p:txBody>
      </p:sp>
      <p:sp>
        <p:nvSpPr>
          <p:cNvPr id="16" name="text"/>
          <p:cNvSpPr txBox="1"/>
          <p:nvPr/>
        </p:nvSpPr>
        <p:spPr>
          <a:xfrm>
            <a:off x="1344168" y="319125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Design</a:t>
            </a:r>
            <a:endParaRPr lang="en-US" sz="1180"/>
          </a:p>
        </p:txBody>
      </p:sp>
      <p:sp>
        <p:nvSpPr>
          <p:cNvPr id="17" name="Code structure"/>
          <p:cNvSpPr/>
          <p:nvPr/>
        </p:nvSpPr>
        <p:spPr>
          <a:xfrm>
            <a:off x="4389120" y="2990088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4572000" y="3191256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5</a:t>
            </a:r>
            <a:endParaRPr lang="en-US" sz="1050"/>
          </a:p>
        </p:txBody>
      </p:sp>
      <p:sp>
        <p:nvSpPr>
          <p:cNvPr id="19" name="text"/>
          <p:cNvSpPr txBox="1"/>
          <p:nvPr/>
        </p:nvSpPr>
        <p:spPr>
          <a:xfrm>
            <a:off x="5047488" y="319125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Code structure</a:t>
            </a:r>
            <a:endParaRPr lang="en-US" sz="1180"/>
          </a:p>
        </p:txBody>
      </p:sp>
      <p:sp>
        <p:nvSpPr>
          <p:cNvPr id="20" name="Collaboration"/>
          <p:cNvSpPr/>
          <p:nvPr/>
        </p:nvSpPr>
        <p:spPr>
          <a:xfrm>
            <a:off x="8092440" y="2990088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8275319" y="3191256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6</a:t>
            </a:r>
            <a:endParaRPr lang="en-US" sz="1050"/>
          </a:p>
        </p:txBody>
      </p:sp>
      <p:sp>
        <p:nvSpPr>
          <p:cNvPr id="22" name="text"/>
          <p:cNvSpPr txBox="1"/>
          <p:nvPr/>
        </p:nvSpPr>
        <p:spPr>
          <a:xfrm>
            <a:off x="8750808" y="319125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Collaboration</a:t>
            </a:r>
            <a:endParaRPr lang="en-US" sz="1180"/>
          </a:p>
        </p:txBody>
      </p:sp>
      <p:sp>
        <p:nvSpPr>
          <p:cNvPr id="23" name="Testing"/>
          <p:cNvSpPr/>
          <p:nvPr/>
        </p:nvSpPr>
        <p:spPr>
          <a:xfrm>
            <a:off x="685800" y="4197096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868680" y="4398264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7</a:t>
            </a:r>
            <a:endParaRPr lang="en-US" sz="1050"/>
          </a:p>
        </p:txBody>
      </p:sp>
      <p:sp>
        <p:nvSpPr>
          <p:cNvPr id="25" name="text"/>
          <p:cNvSpPr txBox="1"/>
          <p:nvPr/>
        </p:nvSpPr>
        <p:spPr>
          <a:xfrm>
            <a:off x="1344168" y="4398264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Testing</a:t>
            </a:r>
            <a:endParaRPr lang="en-US" sz="1180"/>
          </a:p>
        </p:txBody>
      </p:sp>
      <p:sp>
        <p:nvSpPr>
          <p:cNvPr id="26" name="Live demo"/>
          <p:cNvSpPr/>
          <p:nvPr/>
        </p:nvSpPr>
        <p:spPr>
          <a:xfrm>
            <a:off x="4389120" y="4197096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72000" y="4398264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8</a:t>
            </a:r>
            <a:endParaRPr lang="en-US" sz="1050"/>
          </a:p>
        </p:txBody>
      </p:sp>
      <p:sp>
        <p:nvSpPr>
          <p:cNvPr id="28" name="text"/>
          <p:cNvSpPr txBox="1"/>
          <p:nvPr/>
        </p:nvSpPr>
        <p:spPr>
          <a:xfrm>
            <a:off x="5047488" y="4398264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Live demo</a:t>
            </a:r>
            <a:endParaRPr lang="en-US" sz="1180"/>
          </a:p>
        </p:txBody>
      </p:sp>
      <p:sp>
        <p:nvSpPr>
          <p:cNvPr id="29" name="Team contribution"/>
          <p:cNvSpPr/>
          <p:nvPr/>
        </p:nvSpPr>
        <p:spPr>
          <a:xfrm>
            <a:off x="8092440" y="4197096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8275319" y="4398264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050" b="1">
                <a:solidFill>
                  <a:srgbClr val="D99B2B"/>
                </a:solidFill>
                <a:latin typeface="Aptos"/>
              </a:rPr>
              <a:t>9</a:t>
            </a:r>
            <a:endParaRPr lang="en-US" sz="1050"/>
          </a:p>
        </p:txBody>
      </p:sp>
      <p:sp>
        <p:nvSpPr>
          <p:cNvPr id="31" name="text"/>
          <p:cNvSpPr txBox="1"/>
          <p:nvPr/>
        </p:nvSpPr>
        <p:spPr>
          <a:xfrm>
            <a:off x="8750808" y="4398264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 b="1">
                <a:solidFill>
                  <a:srgbClr val="1E2735"/>
                </a:solidFill>
                <a:latin typeface="Aptos"/>
              </a:rPr>
              <a:t>Team contribution</a:t>
            </a:r>
            <a:endParaRPr lang="en-US" sz="1180"/>
          </a:p>
        </p:txBody>
      </p:sp>
      <p:sp>
        <p:nvSpPr>
          <p:cNvPr id="32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02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Statement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1. Problem Statement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Internship searches create scattered information, missed deadlines, and unclear next steps.</a:t>
            </a:r>
            <a:endParaRPr lang="en-US" sz="1500"/>
          </a:p>
        </p:txBody>
      </p:sp>
      <p:sp>
        <p:nvSpPr>
          <p:cNvPr id="5" name="Problem"/>
          <p:cNvSpPr/>
          <p:nvPr/>
        </p:nvSpPr>
        <p:spPr>
          <a:xfrm>
            <a:off x="685800" y="2148840"/>
            <a:ext cx="3154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14400" y="24871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>
                <a:solidFill>
                  <a:srgbClr val="174C3C"/>
                </a:solidFill>
                <a:latin typeface="Aptos"/>
              </a:rPr>
              <a:t>Problem</a:t>
            </a:r>
            <a:endParaRPr lang="en-US" sz="1900"/>
          </a:p>
        </p:txBody>
      </p:sp>
      <p:sp>
        <p:nvSpPr>
          <p:cNvPr id="7" name="text"/>
          <p:cNvSpPr txBox="1"/>
          <p:nvPr/>
        </p:nvSpPr>
        <p:spPr>
          <a:xfrm>
            <a:off x="914400" y="3136392"/>
            <a:ext cx="256032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>
                <a:solidFill>
                  <a:srgbClr val="657284"/>
                </a:solidFill>
                <a:latin typeface="Aptos"/>
              </a:rPr>
              <a:t>Students often track companies, roles, statuses, deadlines, and notes in too many places.</a:t>
            </a:r>
            <a:endParaRPr lang="en-US" sz="1180"/>
          </a:p>
        </p:txBody>
      </p:sp>
      <p:sp>
        <p:nvSpPr>
          <p:cNvPr id="8" name="Motivation"/>
          <p:cNvSpPr/>
          <p:nvPr/>
        </p:nvSpPr>
        <p:spPr>
          <a:xfrm>
            <a:off x="4434840" y="2148840"/>
            <a:ext cx="3154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663440" y="24871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>
                <a:solidFill>
                  <a:srgbClr val="174C3C"/>
                </a:solidFill>
                <a:latin typeface="Aptos"/>
              </a:rPr>
              <a:t>Motivation</a:t>
            </a:r>
            <a:endParaRPr lang="en-US" sz="1900"/>
          </a:p>
        </p:txBody>
      </p:sp>
      <p:sp>
        <p:nvSpPr>
          <p:cNvPr id="10" name="text"/>
          <p:cNvSpPr txBox="1"/>
          <p:nvPr/>
        </p:nvSpPr>
        <p:spPr>
          <a:xfrm>
            <a:off x="4663440" y="3136392"/>
            <a:ext cx="256032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>
                <a:solidFill>
                  <a:srgbClr val="657284"/>
                </a:solidFill>
                <a:latin typeface="Aptos"/>
              </a:rPr>
              <a:t>A single dashboard makes the search less stressful and reduces missed follow-ups.</a:t>
            </a:r>
            <a:endParaRPr lang="en-US" sz="1180"/>
          </a:p>
        </p:txBody>
      </p:sp>
      <p:sp>
        <p:nvSpPr>
          <p:cNvPr id="11" name="Target users"/>
          <p:cNvSpPr/>
          <p:nvPr/>
        </p:nvSpPr>
        <p:spPr>
          <a:xfrm>
            <a:off x="8183879" y="2148840"/>
            <a:ext cx="3154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412480" y="24871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>
                <a:solidFill>
                  <a:srgbClr val="174C3C"/>
                </a:solidFill>
                <a:latin typeface="Aptos"/>
              </a:rPr>
              <a:t>Target users</a:t>
            </a:r>
            <a:endParaRPr lang="en-US" sz="1900"/>
          </a:p>
        </p:txBody>
      </p:sp>
      <p:sp>
        <p:nvSpPr>
          <p:cNvPr id="13" name="text"/>
          <p:cNvSpPr txBox="1"/>
          <p:nvPr/>
        </p:nvSpPr>
        <p:spPr>
          <a:xfrm>
            <a:off x="8412480" y="3136392"/>
            <a:ext cx="256032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80">
                <a:solidFill>
                  <a:srgbClr val="657284"/>
                </a:solidFill>
                <a:latin typeface="Aptos"/>
              </a:rPr>
              <a:t>Students applying for internships, co-ops, and entry-level roles.</a:t>
            </a:r>
            <a:endParaRPr lang="en-US" sz="1180"/>
          </a:p>
        </p:txBody>
      </p:sp>
      <p:sp>
        <p:nvSpPr>
          <p:cNvPr id="14" name="text"/>
          <p:cNvSpPr txBox="1"/>
          <p:nvPr/>
        </p:nvSpPr>
        <p:spPr>
          <a:xfrm>
            <a:off x="987552" y="5349240"/>
            <a:ext cx="10058400" cy="475488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ctr"/>
            <a:r>
              <a:rPr lang="en-US" sz="1800" b="1">
                <a:solidFill>
                  <a:srgbClr val="174C3C"/>
                </a:solidFill>
                <a:latin typeface="Aptos"/>
              </a:rPr>
              <a:t>Goal: give each student a private, searchable command center for their internship process.</a:t>
            </a:r>
            <a:endParaRPr lang="en-US" sz="1800"/>
          </a:p>
        </p:txBody>
      </p:sp>
      <p:sp>
        <p:nvSpPr>
          <p:cNvPr id="15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03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ope and Features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2. Scope and Features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We built a focused tracker, not a full recruiting platform.</a:t>
            </a:r>
            <a:endParaRPr lang="en-US" sz="1500"/>
          </a:p>
        </p:txBody>
      </p:sp>
      <p:sp>
        <p:nvSpPr>
          <p:cNvPr id="5" name="In Scope"/>
          <p:cNvSpPr/>
          <p:nvPr/>
        </p:nvSpPr>
        <p:spPr>
          <a:xfrm>
            <a:off x="685800" y="1783080"/>
            <a:ext cx="31546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14400" y="204825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74C3C"/>
                </a:solidFill>
                <a:latin typeface="Aptos"/>
              </a:rPr>
              <a:t>In Scope</a:t>
            </a:r>
            <a:endParaRPr lang="en-US" sz="1600"/>
          </a:p>
        </p:txBody>
      </p:sp>
      <p:sp>
        <p:nvSpPr>
          <p:cNvPr id="7" name="text"/>
          <p:cNvSpPr txBox="1"/>
          <p:nvPr/>
        </p:nvSpPr>
        <p:spPr>
          <a:xfrm>
            <a:off x="914400" y="2606040"/>
            <a:ext cx="26060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Register/login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Private dashboard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Add/view/update/delete applications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Search, filter, deadlines, notes</a:t>
            </a:r>
            <a:endParaRPr lang="en-US" sz="1080"/>
          </a:p>
        </p:txBody>
      </p:sp>
      <p:sp>
        <p:nvSpPr>
          <p:cNvPr id="8" name="Out of Scope"/>
          <p:cNvSpPr/>
          <p:nvPr/>
        </p:nvSpPr>
        <p:spPr>
          <a:xfrm>
            <a:off x="4434840" y="1783080"/>
            <a:ext cx="31546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663440" y="204825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74C3C"/>
                </a:solidFill>
                <a:latin typeface="Aptos"/>
              </a:rPr>
              <a:t>Out of Scope</a:t>
            </a:r>
            <a:endParaRPr lang="en-US" sz="1600"/>
          </a:p>
        </p:txBody>
      </p:sp>
      <p:sp>
        <p:nvSpPr>
          <p:cNvPr id="10" name="text"/>
          <p:cNvSpPr txBox="1"/>
          <p:nvPr/>
        </p:nvSpPr>
        <p:spPr>
          <a:xfrm>
            <a:off x="4663440" y="2606040"/>
            <a:ext cx="26060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Employer portal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Automatic job scraping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Cloud deployment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Resume upload storage</a:t>
            </a:r>
            <a:endParaRPr lang="en-US" sz="1080"/>
          </a:p>
        </p:txBody>
      </p:sp>
      <p:sp>
        <p:nvSpPr>
          <p:cNvPr id="11" name="Since Deliverable 2"/>
          <p:cNvSpPr/>
          <p:nvPr/>
        </p:nvSpPr>
        <p:spPr>
          <a:xfrm>
            <a:off x="8183879" y="1783080"/>
            <a:ext cx="31546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412480" y="204825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74C3C"/>
                </a:solidFill>
                <a:latin typeface="Aptos"/>
              </a:rPr>
              <a:t>Since Deliverable 2</a:t>
            </a:r>
            <a:endParaRPr lang="en-US" sz="1600"/>
          </a:p>
        </p:txBody>
      </p:sp>
      <p:sp>
        <p:nvSpPr>
          <p:cNvPr id="13" name="text"/>
          <p:cNvSpPr txBox="1"/>
          <p:nvPr/>
        </p:nvSpPr>
        <p:spPr>
          <a:xfrm>
            <a:off x="8412480" y="2606040"/>
            <a:ext cx="26060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Password hashing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Stronger validation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Polished dashboard UI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Completed test plan/results</a:t>
            </a:r>
            <a:endParaRPr lang="en-US" sz="1080"/>
          </a:p>
        </p:txBody>
      </p:sp>
      <p:sp>
        <p:nvSpPr>
          <p:cNvPr id="14" name="text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50" b="1">
                <a:solidFill>
                  <a:srgbClr val="174C3C"/>
                </a:solidFill>
                <a:latin typeface="Aptos"/>
              </a:rPr>
              <a:t>Promised features: registration, login, dashboard, add, update status, delete, search/filter, deadline and notes tracking.</a:t>
            </a:r>
            <a:endParaRPr lang="en-US" sz="1350"/>
          </a:p>
        </p:txBody>
      </p:sp>
      <p:sp>
        <p:nvSpPr>
          <p:cNvPr id="15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04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thodology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3. Software Development Methodology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We followed an iterative Agile-style process: build, review, test, improve.</a:t>
            </a:r>
            <a:endParaRPr lang="en-US" sz="1500"/>
          </a:p>
        </p:txBody>
      </p:sp>
      <p:sp>
        <p:nvSpPr>
          <p:cNvPr id="5" name="Plan"/>
          <p:cNvSpPr/>
          <p:nvPr/>
        </p:nvSpPr>
        <p:spPr>
          <a:xfrm>
            <a:off x="685800" y="2240280"/>
            <a:ext cx="1737360" cy="1234440"/>
          </a:xfrm>
          <a:prstGeom prst="roundRect">
            <a:avLst/>
          </a:prstGeom>
          <a:solidFill>
            <a:srgbClr val="F2FBF6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686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50" b="1">
                <a:solidFill>
                  <a:srgbClr val="174C3C"/>
                </a:solidFill>
                <a:latin typeface="Aptos"/>
              </a:rPr>
              <a:t>Plan</a:t>
            </a:r>
            <a:endParaRPr lang="en-US" sz="1250"/>
          </a:p>
        </p:txBody>
      </p:sp>
      <p:sp>
        <p:nvSpPr>
          <p:cNvPr id="7" name="text"/>
          <p:cNvSpPr txBox="1"/>
          <p:nvPr/>
        </p:nvSpPr>
        <p:spPr>
          <a:xfrm>
            <a:off x="868680" y="28163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>
                <a:solidFill>
                  <a:srgbClr val="657284"/>
                </a:solidFill>
                <a:latin typeface="Aptos"/>
              </a:rPr>
              <a:t>roles + scope</a:t>
            </a:r>
            <a:endParaRPr lang="en-US" sz="850"/>
          </a:p>
        </p:txBody>
      </p:sp>
      <p:cxnSp>
        <p:nvCxnSpPr>
          <p:cNvPr id="8" name="rule"/>
          <p:cNvCxnSpPr/>
          <p:nvPr/>
        </p:nvCxnSpPr>
        <p:spPr>
          <a:xfrm>
            <a:off x="2468880" y="2816352"/>
            <a:ext cx="292608" cy="0"/>
          </a:xfrm>
          <a:prstGeom prst="line">
            <a:avLst/>
          </a:prstGeom>
          <a:ln w="22000">
            <a:solidFill>
              <a:srgbClr val="D99B2B"/>
            </a:solidFill>
          </a:ln>
        </p:spPr>
      </p:cxnSp>
      <p:sp>
        <p:nvSpPr>
          <p:cNvPr id="9" name="Build"/>
          <p:cNvSpPr/>
          <p:nvPr/>
        </p:nvSpPr>
        <p:spPr>
          <a:xfrm>
            <a:off x="2953512" y="2240280"/>
            <a:ext cx="1737360" cy="1234440"/>
          </a:xfrm>
          <a:prstGeom prst="roundRect">
            <a:avLst/>
          </a:prstGeom>
          <a:solidFill>
            <a:srgbClr val="F2FBF6"/>
          </a:solidFill>
          <a:ln w="12700">
            <a:solidFill>
              <a:srgbClr val="D9E2E7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136392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50" b="1">
                <a:solidFill>
                  <a:srgbClr val="174C3C"/>
                </a:solidFill>
                <a:latin typeface="Aptos"/>
              </a:rPr>
              <a:t>Build</a:t>
            </a:r>
            <a:endParaRPr lang="en-US" sz="1250"/>
          </a:p>
        </p:txBody>
      </p:sp>
      <p:sp>
        <p:nvSpPr>
          <p:cNvPr id="11" name="text"/>
          <p:cNvSpPr txBox="1"/>
          <p:nvPr/>
        </p:nvSpPr>
        <p:spPr>
          <a:xfrm>
            <a:off x="3136392" y="28163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>
                <a:solidFill>
                  <a:srgbClr val="657284"/>
                </a:solidFill>
                <a:latin typeface="Aptos"/>
              </a:rPr>
              <a:t>feature increments</a:t>
            </a:r>
            <a:endParaRPr lang="en-US" sz="850"/>
          </a:p>
        </p:txBody>
      </p:sp>
      <p:cxnSp>
        <p:nvCxnSpPr>
          <p:cNvPr id="12" name="rule"/>
          <p:cNvCxnSpPr/>
          <p:nvPr/>
        </p:nvCxnSpPr>
        <p:spPr>
          <a:xfrm>
            <a:off x="4736592" y="2816352"/>
            <a:ext cx="292608" cy="0"/>
          </a:xfrm>
          <a:prstGeom prst="line">
            <a:avLst/>
          </a:prstGeom>
          <a:ln w="22000">
            <a:solidFill>
              <a:srgbClr val="D99B2B"/>
            </a:solidFill>
          </a:ln>
        </p:spPr>
      </p:cxnSp>
      <p:sp>
        <p:nvSpPr>
          <p:cNvPr id="13" name="Review"/>
          <p:cNvSpPr/>
          <p:nvPr/>
        </p:nvSpPr>
        <p:spPr>
          <a:xfrm>
            <a:off x="5221224" y="2240280"/>
            <a:ext cx="1737360" cy="1234440"/>
          </a:xfrm>
          <a:prstGeom prst="roundRect">
            <a:avLst/>
          </a:prstGeom>
          <a:solidFill>
            <a:srgbClr val="F2FBF6"/>
          </a:solidFill>
          <a:ln w="12700">
            <a:solidFill>
              <a:srgbClr val="D9E2E7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5404104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50" b="1">
                <a:solidFill>
                  <a:srgbClr val="174C3C"/>
                </a:solidFill>
                <a:latin typeface="Aptos"/>
              </a:rPr>
              <a:t>Review</a:t>
            </a:r>
            <a:endParaRPr lang="en-US" sz="1250"/>
          </a:p>
        </p:txBody>
      </p:sp>
      <p:sp>
        <p:nvSpPr>
          <p:cNvPr id="15" name="text"/>
          <p:cNvSpPr txBox="1"/>
          <p:nvPr/>
        </p:nvSpPr>
        <p:spPr>
          <a:xfrm>
            <a:off x="5404104" y="28163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>
                <a:solidFill>
                  <a:srgbClr val="657284"/>
                </a:solidFill>
                <a:latin typeface="Aptos"/>
              </a:rPr>
              <a:t>GitHub updates</a:t>
            </a:r>
            <a:endParaRPr lang="en-US" sz="850"/>
          </a:p>
        </p:txBody>
      </p:sp>
      <p:cxnSp>
        <p:nvCxnSpPr>
          <p:cNvPr id="16" name="rule"/>
          <p:cNvCxnSpPr/>
          <p:nvPr/>
        </p:nvCxnSpPr>
        <p:spPr>
          <a:xfrm>
            <a:off x="7004304" y="2816352"/>
            <a:ext cx="292608" cy="0"/>
          </a:xfrm>
          <a:prstGeom prst="line">
            <a:avLst/>
          </a:prstGeom>
          <a:ln w="22000">
            <a:solidFill>
              <a:srgbClr val="D99B2B"/>
            </a:solidFill>
          </a:ln>
        </p:spPr>
      </p:cxnSp>
      <p:sp>
        <p:nvSpPr>
          <p:cNvPr id="17" name="Test"/>
          <p:cNvSpPr/>
          <p:nvPr/>
        </p:nvSpPr>
        <p:spPr>
          <a:xfrm>
            <a:off x="7488936" y="2240280"/>
            <a:ext cx="1737360" cy="1234440"/>
          </a:xfrm>
          <a:prstGeom prst="roundRect">
            <a:avLst/>
          </a:prstGeom>
          <a:solidFill>
            <a:srgbClr val="F2FBF6"/>
          </a:solidFill>
          <a:ln w="12700">
            <a:solidFill>
              <a:srgbClr val="D9E2E7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7671815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50" b="1">
                <a:solidFill>
                  <a:srgbClr val="174C3C"/>
                </a:solidFill>
                <a:latin typeface="Aptos"/>
              </a:rPr>
              <a:t>Test</a:t>
            </a:r>
            <a:endParaRPr lang="en-US" sz="1250"/>
          </a:p>
        </p:txBody>
      </p:sp>
      <p:sp>
        <p:nvSpPr>
          <p:cNvPr id="19" name="text"/>
          <p:cNvSpPr txBox="1"/>
          <p:nvPr/>
        </p:nvSpPr>
        <p:spPr>
          <a:xfrm>
            <a:off x="7671815" y="28163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>
                <a:solidFill>
                  <a:srgbClr val="657284"/>
                </a:solidFill>
                <a:latin typeface="Aptos"/>
              </a:rPr>
              <a:t>20 cases</a:t>
            </a:r>
            <a:endParaRPr lang="en-US" sz="850"/>
          </a:p>
        </p:txBody>
      </p:sp>
      <p:cxnSp>
        <p:nvCxnSpPr>
          <p:cNvPr id="20" name="rule"/>
          <p:cNvCxnSpPr/>
          <p:nvPr/>
        </p:nvCxnSpPr>
        <p:spPr>
          <a:xfrm>
            <a:off x="9272015" y="2816352"/>
            <a:ext cx="292608" cy="0"/>
          </a:xfrm>
          <a:prstGeom prst="line">
            <a:avLst/>
          </a:prstGeom>
          <a:ln w="22000">
            <a:solidFill>
              <a:srgbClr val="D99B2B"/>
            </a:solidFill>
          </a:ln>
        </p:spPr>
      </p:cxnSp>
      <p:sp>
        <p:nvSpPr>
          <p:cNvPr id="21" name="Improve"/>
          <p:cNvSpPr/>
          <p:nvPr/>
        </p:nvSpPr>
        <p:spPr>
          <a:xfrm>
            <a:off x="9756648" y="2240280"/>
            <a:ext cx="1737360" cy="1234440"/>
          </a:xfrm>
          <a:prstGeom prst="roundRect">
            <a:avLst/>
          </a:prstGeom>
          <a:solidFill>
            <a:srgbClr val="F2FBF6"/>
          </a:solidFill>
          <a:ln w="12700">
            <a:solidFill>
              <a:srgbClr val="D9E2E7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9939528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50" b="1">
                <a:solidFill>
                  <a:srgbClr val="174C3C"/>
                </a:solidFill>
                <a:latin typeface="Aptos"/>
              </a:rPr>
              <a:t>Improve</a:t>
            </a:r>
            <a:endParaRPr lang="en-US" sz="1250"/>
          </a:p>
        </p:txBody>
      </p:sp>
      <p:sp>
        <p:nvSpPr>
          <p:cNvPr id="23" name="text"/>
          <p:cNvSpPr txBox="1"/>
          <p:nvPr/>
        </p:nvSpPr>
        <p:spPr>
          <a:xfrm>
            <a:off x="9939528" y="28163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>
                <a:solidFill>
                  <a:srgbClr val="657284"/>
                </a:solidFill>
                <a:latin typeface="Aptos"/>
              </a:rPr>
              <a:t>fix + document</a:t>
            </a:r>
            <a:endParaRPr lang="en-US" sz="850"/>
          </a:p>
        </p:txBody>
      </p:sp>
      <p:sp>
        <p:nvSpPr>
          <p:cNvPr id="24" name="text"/>
          <p:cNvSpPr txBox="1"/>
          <p:nvPr/>
        </p:nvSpPr>
        <p:spPr>
          <a:xfrm>
            <a:off x="914400" y="4846320"/>
            <a:ext cx="10241280" cy="502920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500" b="1">
                <a:solidFill>
                  <a:srgbClr val="174C3C"/>
                </a:solidFill>
                <a:latin typeface="Aptos"/>
              </a:rPr>
              <a:t>Why this methodology: it let each role work on a clear part while the team integrated and tested features as the app grew.</a:t>
            </a:r>
            <a:endParaRPr lang="en-US" sz="1500"/>
          </a:p>
        </p:txBody>
      </p:sp>
      <p:sp>
        <p:nvSpPr>
          <p:cNvPr id="25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05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 Artifacts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4. Design Artifacts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Context diagram, architecture diagram, ERD, and workflow explain how the system fits together.</a:t>
            </a:r>
            <a:endParaRPr lang="en-US" sz="1500"/>
          </a:p>
        </p:txBody>
      </p:sp>
      <p:sp>
        <p:nvSpPr>
          <p:cNvPr id="5" name="Context"/>
          <p:cNvSpPr/>
          <p:nvPr/>
        </p:nvSpPr>
        <p:spPr>
          <a:xfrm>
            <a:off x="685800" y="1664208"/>
            <a:ext cx="4800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14400" y="184708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20" b="1">
                <a:solidFill>
                  <a:srgbClr val="174C3C"/>
                </a:solidFill>
                <a:latin typeface="Aptos"/>
              </a:rPr>
              <a:t>Context</a:t>
            </a:r>
            <a:endParaRPr lang="en-US" sz="1320"/>
          </a:p>
        </p:txBody>
      </p:sp>
      <p:sp>
        <p:nvSpPr>
          <p:cNvPr id="7" name="text"/>
          <p:cNvSpPr txBox="1"/>
          <p:nvPr/>
        </p:nvSpPr>
        <p:spPr>
          <a:xfrm>
            <a:off x="2560320" y="1847088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Student user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Smart Internship Tracker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Local browser + MySQL</a:t>
            </a:r>
            <a:endParaRPr lang="en-US" sz="900"/>
          </a:p>
        </p:txBody>
      </p:sp>
      <p:sp>
        <p:nvSpPr>
          <p:cNvPr id="8" name="Architecture"/>
          <p:cNvSpPr/>
          <p:nvPr/>
        </p:nvSpPr>
        <p:spPr>
          <a:xfrm>
            <a:off x="6217920" y="1664208"/>
            <a:ext cx="4800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6446520" y="184708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20" b="1">
                <a:solidFill>
                  <a:srgbClr val="174C3C"/>
                </a:solidFill>
                <a:latin typeface="Aptos"/>
              </a:rPr>
              <a:t>Architecture</a:t>
            </a:r>
            <a:endParaRPr lang="en-US" sz="1320"/>
          </a:p>
        </p:txBody>
      </p:sp>
      <p:sp>
        <p:nvSpPr>
          <p:cNvPr id="10" name="text"/>
          <p:cNvSpPr txBox="1"/>
          <p:nvPr/>
        </p:nvSpPr>
        <p:spPr>
          <a:xfrm>
            <a:off x="8092440" y="1847088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HTML/CSS templates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Flask routes + sessions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MySQL database</a:t>
            </a:r>
            <a:endParaRPr lang="en-US" sz="900"/>
          </a:p>
        </p:txBody>
      </p:sp>
      <p:sp>
        <p:nvSpPr>
          <p:cNvPr id="11" name="ERD"/>
          <p:cNvSpPr/>
          <p:nvPr/>
        </p:nvSpPr>
        <p:spPr>
          <a:xfrm>
            <a:off x="685800" y="3493008"/>
            <a:ext cx="4800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914400" y="367588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20" b="1">
                <a:solidFill>
                  <a:srgbClr val="174C3C"/>
                </a:solidFill>
                <a:latin typeface="Aptos"/>
              </a:rPr>
              <a:t>ERD</a:t>
            </a:r>
            <a:endParaRPr lang="en-US" sz="1320"/>
          </a:p>
        </p:txBody>
      </p:sp>
      <p:sp>
        <p:nvSpPr>
          <p:cNvPr id="13" name="text"/>
          <p:cNvSpPr txBox="1"/>
          <p:nvPr/>
        </p:nvSpPr>
        <p:spPr>
          <a:xfrm>
            <a:off x="2560320" y="3675888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users table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internships table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1 user -&gt; many records</a:t>
            </a:r>
            <a:endParaRPr lang="en-US" sz="900"/>
          </a:p>
        </p:txBody>
      </p:sp>
      <p:sp>
        <p:nvSpPr>
          <p:cNvPr id="14" name="Workflow"/>
          <p:cNvSpPr/>
          <p:nvPr/>
        </p:nvSpPr>
        <p:spPr>
          <a:xfrm>
            <a:off x="6217920" y="3493008"/>
            <a:ext cx="4800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446520" y="367588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20" b="1">
                <a:solidFill>
                  <a:srgbClr val="174C3C"/>
                </a:solidFill>
                <a:latin typeface="Aptos"/>
              </a:rPr>
              <a:t>Workflow</a:t>
            </a:r>
            <a:endParaRPr lang="en-US" sz="1320"/>
          </a:p>
        </p:txBody>
      </p:sp>
      <p:sp>
        <p:nvSpPr>
          <p:cNvPr id="16" name="text"/>
          <p:cNvSpPr txBox="1"/>
          <p:nvPr/>
        </p:nvSpPr>
        <p:spPr>
          <a:xfrm>
            <a:off x="8092440" y="3675888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Register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Login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Dashboard CRUD</a:t>
            </a:r>
            <a:endParaRPr lang="en-US" sz="900"/>
          </a:p>
          <a:p>
            <a:pPr algn="l"/>
            <a:r>
              <a:rPr lang="en-US" sz="900">
                <a:solidFill>
                  <a:srgbClr val="657284"/>
                </a:solidFill>
                <a:latin typeface="Aptos"/>
              </a:rPr>
              <a:t>Logout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960120" y="5596128"/>
            <a:ext cx="10241280" cy="411480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>
                <a:solidFill>
                  <a:srgbClr val="174C3C"/>
                </a:solidFill>
                <a:latin typeface="Aptos"/>
              </a:rPr>
              <a:t>These designs guided database ownership, protected routes, and the demo workflow.</a:t>
            </a:r>
            <a:endParaRPr lang="en-US" sz="1400"/>
          </a:p>
        </p:txBody>
      </p:sp>
      <p:sp>
        <p:nvSpPr>
          <p:cNvPr id="18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06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4. Architecture Diagram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A simple Flask web app connects protected user routes to a MySQL-backed application database.</a:t>
            </a:r>
            <a:endParaRPr lang="en-US" sz="1500"/>
          </a:p>
        </p:txBody>
      </p:sp>
      <p:sp>
        <p:nvSpPr>
          <p:cNvPr id="5" name="Frontend"/>
          <p:cNvSpPr/>
          <p:nvPr/>
        </p:nvSpPr>
        <p:spPr>
          <a:xfrm>
            <a:off x="731520" y="1828800"/>
            <a:ext cx="2971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60120" y="205740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174C3C"/>
                </a:solidFill>
                <a:latin typeface="Aptos"/>
              </a:rPr>
              <a:t>Frontend</a:t>
            </a:r>
            <a:endParaRPr lang="en-US" sz="1800"/>
          </a:p>
        </p:txBody>
      </p:sp>
      <p:sp>
        <p:nvSpPr>
          <p:cNvPr id="7" name="text"/>
          <p:cNvSpPr txBox="1"/>
          <p:nvPr/>
        </p:nvSpPr>
        <p:spPr>
          <a:xfrm>
            <a:off x="960120" y="2596896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HTML templates + CSS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Responsive dashboard UI</a:t>
            </a:r>
            <a:endParaRPr lang="en-US" sz="1200"/>
          </a:p>
        </p:txBody>
      </p:sp>
      <p:sp>
        <p:nvSpPr>
          <p:cNvPr id="8" name="Flask Backend"/>
          <p:cNvSpPr/>
          <p:nvPr/>
        </p:nvSpPr>
        <p:spPr>
          <a:xfrm>
            <a:off x="4434840" y="1828800"/>
            <a:ext cx="2971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663440" y="205740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174C3C"/>
                </a:solidFill>
                <a:latin typeface="Aptos"/>
              </a:rPr>
              <a:t>Flask Backend</a:t>
            </a:r>
            <a:endParaRPr lang="en-US" sz="1800"/>
          </a:p>
        </p:txBody>
      </p:sp>
      <p:sp>
        <p:nvSpPr>
          <p:cNvPr id="10" name="text"/>
          <p:cNvSpPr txBox="1"/>
          <p:nvPr/>
        </p:nvSpPr>
        <p:spPr>
          <a:xfrm>
            <a:off x="4663440" y="2596896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Routes, sessions, validation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CRUD application logic</a:t>
            </a:r>
            <a:endParaRPr lang="en-US" sz="1200"/>
          </a:p>
        </p:txBody>
      </p:sp>
      <p:sp>
        <p:nvSpPr>
          <p:cNvPr id="11" name="MySQL Database"/>
          <p:cNvSpPr/>
          <p:nvPr/>
        </p:nvSpPr>
        <p:spPr>
          <a:xfrm>
            <a:off x="8138160" y="1828800"/>
            <a:ext cx="2971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366760" y="205740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174C3C"/>
                </a:solidFill>
                <a:latin typeface="Aptos"/>
              </a:rPr>
              <a:t>MySQL Database</a:t>
            </a:r>
            <a:endParaRPr lang="en-US" sz="1800"/>
          </a:p>
        </p:txBody>
      </p:sp>
      <p:sp>
        <p:nvSpPr>
          <p:cNvPr id="13" name="text"/>
          <p:cNvSpPr txBox="1"/>
          <p:nvPr/>
        </p:nvSpPr>
        <p:spPr>
          <a:xfrm>
            <a:off x="8366760" y="2596896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users table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internships table</a:t>
            </a:r>
            <a:endParaRPr lang="en-US" sz="1200"/>
          </a:p>
        </p:txBody>
      </p:sp>
      <p:cxnSp>
        <p:nvCxnSpPr>
          <p:cNvPr id="14" name="rule"/>
          <p:cNvCxnSpPr/>
          <p:nvPr/>
        </p:nvCxnSpPr>
        <p:spPr>
          <a:xfrm>
            <a:off x="3749039" y="2761488"/>
            <a:ext cx="548640" cy="0"/>
          </a:xfrm>
          <a:prstGeom prst="line">
            <a:avLst/>
          </a:prstGeom>
          <a:ln w="36000">
            <a:solidFill>
              <a:srgbClr val="D99B2B"/>
            </a:solidFill>
          </a:ln>
        </p:spPr>
      </p:cxnSp>
      <p:cxnSp>
        <p:nvCxnSpPr>
          <p:cNvPr id="15" name="rule"/>
          <p:cNvCxnSpPr/>
          <p:nvPr/>
        </p:nvCxnSpPr>
        <p:spPr>
          <a:xfrm>
            <a:off x="7452360" y="2761488"/>
            <a:ext cx="548640" cy="0"/>
          </a:xfrm>
          <a:prstGeom prst="line">
            <a:avLst/>
          </a:prstGeom>
          <a:ln w="36000">
            <a:solidFill>
              <a:srgbClr val="D99B2B"/>
            </a:solidFill>
          </a:ln>
        </p:spPr>
      </p:cxnSp>
      <p:sp>
        <p:nvSpPr>
          <p:cNvPr id="16" name="text"/>
          <p:cNvSpPr txBox="1"/>
          <p:nvPr/>
        </p:nvSpPr>
        <p:spPr>
          <a:xfrm>
            <a:off x="777240" y="457200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E2735"/>
                </a:solidFill>
                <a:latin typeface="Aptos"/>
              </a:rPr>
              <a:t>Key implementation details</a:t>
            </a:r>
            <a:endParaRPr lang="en-US" sz="1600"/>
          </a:p>
        </p:txBody>
      </p:sp>
      <p:sp>
        <p:nvSpPr>
          <p:cNvPr id="17" name="text"/>
          <p:cNvSpPr txBox="1"/>
          <p:nvPr/>
        </p:nvSpPr>
        <p:spPr>
          <a:xfrm>
            <a:off x="804672" y="495604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50">
                <a:solidFill>
                  <a:srgbClr val="657284"/>
                </a:solidFill>
                <a:latin typeface="Aptos"/>
              </a:rPr>
              <a:t>Password hashing with pbkdf2:sha256</a:t>
            </a:r>
            <a:endParaRPr lang="en-US" sz="1250"/>
          </a:p>
          <a:p>
            <a:pPr algn="l"/>
            <a:r>
              <a:rPr lang="en-US" sz="1250">
                <a:solidFill>
                  <a:srgbClr val="657284"/>
                </a:solidFill>
                <a:latin typeface="Aptos"/>
              </a:rPr>
              <a:t>Protected routes through a login_required decorator</a:t>
            </a:r>
            <a:endParaRPr lang="en-US" sz="1250"/>
          </a:p>
          <a:p>
            <a:pPr algn="l"/>
            <a:r>
              <a:rPr lang="en-US" sz="1250">
                <a:solidFill>
                  <a:srgbClr val="657284"/>
                </a:solidFill>
                <a:latin typeface="Aptos"/>
              </a:rPr>
              <a:t>Parameterized SQL queries for safer database access</a:t>
            </a:r>
            <a:endParaRPr lang="en-US" sz="1250"/>
          </a:p>
          <a:p>
            <a:pPr algn="l"/>
            <a:r>
              <a:rPr lang="en-US" sz="1250">
                <a:solidFill>
                  <a:srgbClr val="657284"/>
                </a:solidFill>
                <a:latin typeface="Aptos"/>
              </a:rPr>
              <a:t>User-specific dashboard queries filtered by user_id</a:t>
            </a:r>
            <a:endParaRPr lang="en-US" sz="1250"/>
          </a:p>
        </p:txBody>
      </p:sp>
      <p:sp>
        <p:nvSpPr>
          <p:cNvPr id="18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07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base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4. ERD: Database Design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Two tables keep accounts separate from application records while preserving ownership.</a:t>
            </a:r>
            <a:endParaRPr lang="en-US" sz="1500"/>
          </a:p>
        </p:txBody>
      </p:sp>
      <p:sp>
        <p:nvSpPr>
          <p:cNvPr id="5" name="users"/>
          <p:cNvSpPr/>
          <p:nvPr/>
        </p:nvSpPr>
        <p:spPr>
          <a:xfrm>
            <a:off x="914400" y="1828800"/>
            <a:ext cx="4206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1188720" y="2084831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>
                <a:solidFill>
                  <a:srgbClr val="174C3C"/>
                </a:solidFill>
                <a:latin typeface="Aptos"/>
              </a:rPr>
              <a:t>users</a:t>
            </a:r>
            <a:endParaRPr lang="en-US" sz="1900"/>
          </a:p>
        </p:txBody>
      </p:sp>
      <p:sp>
        <p:nvSpPr>
          <p:cNvPr id="7" name="text"/>
          <p:cNvSpPr txBox="1"/>
          <p:nvPr/>
        </p:nvSpPr>
        <p:spPr>
          <a:xfrm>
            <a:off x="1188720" y="265176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id INT AUTO_INCREMENT PRIMARY KEY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username VARCHAR(100) UNIQUE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password VARCHAR(255)</a:t>
            </a:r>
            <a:endParaRPr lang="en-US" sz="1200"/>
          </a:p>
        </p:txBody>
      </p:sp>
      <p:sp>
        <p:nvSpPr>
          <p:cNvPr id="8" name="internships"/>
          <p:cNvSpPr/>
          <p:nvPr/>
        </p:nvSpPr>
        <p:spPr>
          <a:xfrm>
            <a:off x="6629400" y="1417320"/>
            <a:ext cx="4480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6903720" y="170078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>
                <a:solidFill>
                  <a:srgbClr val="174C3C"/>
                </a:solidFill>
                <a:latin typeface="Aptos"/>
              </a:rPr>
              <a:t>internships</a:t>
            </a:r>
            <a:endParaRPr lang="en-US" sz="1900"/>
          </a:p>
        </p:txBody>
      </p:sp>
      <p:sp>
        <p:nvSpPr>
          <p:cNvPr id="10" name="text"/>
          <p:cNvSpPr txBox="1"/>
          <p:nvPr/>
        </p:nvSpPr>
        <p:spPr>
          <a:xfrm>
            <a:off x="6903720" y="2258568"/>
            <a:ext cx="36576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id, company, role, status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deadline DATE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notes TEXT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user_id INT FOREIGN KEY</a:t>
            </a:r>
            <a:endParaRPr lang="en-US" sz="1200"/>
          </a:p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ON DELETE CASCADE</a:t>
            </a:r>
            <a:endParaRPr lang="en-US" sz="1200"/>
          </a:p>
        </p:txBody>
      </p:sp>
      <p:cxnSp>
        <p:nvCxnSpPr>
          <p:cNvPr id="11" name="rule"/>
          <p:cNvCxnSpPr/>
          <p:nvPr/>
        </p:nvCxnSpPr>
        <p:spPr>
          <a:xfrm>
            <a:off x="5257800" y="3090672"/>
            <a:ext cx="1143000" cy="0"/>
          </a:xfrm>
          <a:prstGeom prst="line">
            <a:avLst/>
          </a:prstGeom>
          <a:ln w="38000">
            <a:solidFill>
              <a:srgbClr val="D99B2B"/>
            </a:solidFill>
          </a:ln>
        </p:spPr>
      </p:cxnSp>
      <p:sp>
        <p:nvSpPr>
          <p:cNvPr id="12" name="text"/>
          <p:cNvSpPr txBox="1"/>
          <p:nvPr/>
        </p:nvSpPr>
        <p:spPr>
          <a:xfrm>
            <a:off x="4526280" y="36576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20" b="1">
                <a:solidFill>
                  <a:srgbClr val="D99B2B"/>
                </a:solidFill>
                <a:latin typeface="Aptos"/>
              </a:rPr>
              <a:t>1 user -&gt; many applications</a:t>
            </a:r>
            <a:endParaRPr lang="en-US" sz="1120"/>
          </a:p>
        </p:txBody>
      </p:sp>
      <p:sp>
        <p:nvSpPr>
          <p:cNvPr id="13" name="text"/>
          <p:cNvSpPr txBox="1"/>
          <p:nvPr/>
        </p:nvSpPr>
        <p:spPr>
          <a:xfrm>
            <a:off x="1051560" y="5486400"/>
            <a:ext cx="9875520" cy="475488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550" b="1">
                <a:solidFill>
                  <a:srgbClr val="174C3C"/>
                </a:solidFill>
                <a:latin typeface="Aptos"/>
              </a:rPr>
              <a:t>Design value: each student sees only their own internship records, and deleting an account can remove dependent records cleanly.</a:t>
            </a:r>
            <a:endParaRPr lang="en-US" sz="1550"/>
          </a:p>
        </p:txBody>
      </p:sp>
      <p:sp>
        <p:nvSpPr>
          <p:cNvPr id="14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08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de Structure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5. Code Structure Overview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Open VS Code during the presentation and walk through these files.</a:t>
            </a:r>
            <a:endParaRPr lang="en-US" sz="1500"/>
          </a:p>
        </p:txBody>
      </p:sp>
      <p:sp>
        <p:nvSpPr>
          <p:cNvPr id="5" name="text"/>
          <p:cNvSpPr txBox="1"/>
          <p:nvPr/>
        </p:nvSpPr>
        <p:spPr>
          <a:xfrm>
            <a:off x="822960" y="17373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>
                <a:solidFill>
                  <a:srgbClr val="174C3C"/>
                </a:solidFill>
                <a:latin typeface="Aptos"/>
              </a:rPr>
              <a:t>app.py</a:t>
            </a:r>
            <a:endParaRPr lang="en-US" sz="1200"/>
          </a:p>
        </p:txBody>
      </p:sp>
      <p:sp>
        <p:nvSpPr>
          <p:cNvPr id="6" name="text"/>
          <p:cNvSpPr txBox="1"/>
          <p:nvPr/>
        </p:nvSpPr>
        <p:spPr>
          <a:xfrm>
            <a:off x="3063240" y="17373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Routes, sessions, database connection, validation, password hashing, CRUD logic.</a:t>
            </a:r>
            <a:endParaRPr lang="en-US" sz="1050"/>
          </a:p>
        </p:txBody>
      </p:sp>
      <p:cxnSp>
        <p:nvCxnSpPr>
          <p:cNvPr id="7" name="rule"/>
          <p:cNvCxnSpPr/>
          <p:nvPr/>
        </p:nvCxnSpPr>
        <p:spPr>
          <a:xfrm>
            <a:off x="822960" y="2148840"/>
            <a:ext cx="10195560" cy="0"/>
          </a:xfrm>
          <a:prstGeom prst="line">
            <a:avLst/>
          </a:prstGeom>
          <a:ln w="8500">
            <a:solidFill>
              <a:srgbClr val="D9E2E7"/>
            </a:solidFill>
          </a:ln>
        </p:spPr>
      </p:cxnSp>
      <p:sp>
        <p:nvSpPr>
          <p:cNvPr id="8" name="text"/>
          <p:cNvSpPr txBox="1"/>
          <p:nvPr/>
        </p:nvSpPr>
        <p:spPr>
          <a:xfrm>
            <a:off x="822960" y="2450591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>
                <a:solidFill>
                  <a:srgbClr val="174C3C"/>
                </a:solidFill>
                <a:latin typeface="Aptos"/>
              </a:rPr>
              <a:t>templates/</a:t>
            </a:r>
            <a:endParaRPr lang="en-US" sz="1200"/>
          </a:p>
        </p:txBody>
      </p:sp>
      <p:sp>
        <p:nvSpPr>
          <p:cNvPr id="9" name="text"/>
          <p:cNvSpPr txBox="1"/>
          <p:nvPr/>
        </p:nvSpPr>
        <p:spPr>
          <a:xfrm>
            <a:off x="3063240" y="2450591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layout, homepage, register, login, dashboard pages rendered with Jinja.</a:t>
            </a:r>
            <a:endParaRPr lang="en-US" sz="1050"/>
          </a:p>
        </p:txBody>
      </p:sp>
      <p:cxnSp>
        <p:nvCxnSpPr>
          <p:cNvPr id="10" name="rule"/>
          <p:cNvCxnSpPr/>
          <p:nvPr/>
        </p:nvCxnSpPr>
        <p:spPr>
          <a:xfrm>
            <a:off x="822960" y="2862072"/>
            <a:ext cx="10195560" cy="0"/>
          </a:xfrm>
          <a:prstGeom prst="line">
            <a:avLst/>
          </a:prstGeom>
          <a:ln w="8500">
            <a:solidFill>
              <a:srgbClr val="D9E2E7"/>
            </a:solidFill>
          </a:ln>
        </p:spPr>
      </p:cxnSp>
      <p:sp>
        <p:nvSpPr>
          <p:cNvPr id="11" name="text"/>
          <p:cNvSpPr txBox="1"/>
          <p:nvPr/>
        </p:nvSpPr>
        <p:spPr>
          <a:xfrm>
            <a:off x="822960" y="316382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>
                <a:solidFill>
                  <a:srgbClr val="174C3C"/>
                </a:solidFill>
                <a:latin typeface="Aptos"/>
              </a:rPr>
              <a:t>static/style.css</a:t>
            </a:r>
            <a:endParaRPr lang="en-US" sz="1200"/>
          </a:p>
        </p:txBody>
      </p:sp>
      <p:sp>
        <p:nvSpPr>
          <p:cNvPr id="12" name="text"/>
          <p:cNvSpPr txBox="1"/>
          <p:nvPr/>
        </p:nvSpPr>
        <p:spPr>
          <a:xfrm>
            <a:off x="3063240" y="316382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Responsive styling, cards, forms, buttons, tables, and status badges.</a:t>
            </a:r>
            <a:endParaRPr lang="en-US" sz="1050"/>
          </a:p>
        </p:txBody>
      </p:sp>
      <p:cxnSp>
        <p:nvCxnSpPr>
          <p:cNvPr id="13" name="rule"/>
          <p:cNvCxnSpPr/>
          <p:nvPr/>
        </p:nvCxnSpPr>
        <p:spPr>
          <a:xfrm>
            <a:off x="822960" y="3575304"/>
            <a:ext cx="10195560" cy="0"/>
          </a:xfrm>
          <a:prstGeom prst="line">
            <a:avLst/>
          </a:prstGeom>
          <a:ln w="8500">
            <a:solidFill>
              <a:srgbClr val="D9E2E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822960" y="38770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>
                <a:solidFill>
                  <a:srgbClr val="174C3C"/>
                </a:solidFill>
                <a:latin typeface="Aptos"/>
              </a:rPr>
              <a:t>README.md</a:t>
            </a:r>
            <a:endParaRPr lang="en-US" sz="1200"/>
          </a:p>
        </p:txBody>
      </p:sp>
      <p:sp>
        <p:nvSpPr>
          <p:cNvPr id="15" name="text"/>
          <p:cNvSpPr txBox="1"/>
          <p:nvPr/>
        </p:nvSpPr>
        <p:spPr>
          <a:xfrm>
            <a:off x="3063240" y="3877056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Project overview, setup instructions, run steps, technologies, and team list.</a:t>
            </a:r>
            <a:endParaRPr lang="en-US" sz="1050"/>
          </a:p>
        </p:txBody>
      </p:sp>
      <p:cxnSp>
        <p:nvCxnSpPr>
          <p:cNvPr id="16" name="rule"/>
          <p:cNvCxnSpPr/>
          <p:nvPr/>
        </p:nvCxnSpPr>
        <p:spPr>
          <a:xfrm>
            <a:off x="822960" y="4288536"/>
            <a:ext cx="10195560" cy="0"/>
          </a:xfrm>
          <a:prstGeom prst="line">
            <a:avLst/>
          </a:prstGeom>
          <a:ln w="8500">
            <a:solidFill>
              <a:srgbClr val="D9E2E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822960" y="4590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>
                <a:solidFill>
                  <a:srgbClr val="174C3C"/>
                </a:solidFill>
                <a:latin typeface="Aptos"/>
              </a:rPr>
              <a:t>TEST_PLAN_AND_RESULTS.md</a:t>
            </a:r>
            <a:endParaRPr lang="en-US" sz="1200"/>
          </a:p>
        </p:txBody>
      </p:sp>
      <p:sp>
        <p:nvSpPr>
          <p:cNvPr id="18" name="text"/>
          <p:cNvSpPr txBox="1"/>
          <p:nvPr/>
        </p:nvSpPr>
        <p:spPr>
          <a:xfrm>
            <a:off x="3063240" y="459028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Testing scope, expected output, actual output, and pass/fail results.</a:t>
            </a:r>
            <a:endParaRPr lang="en-US" sz="1050"/>
          </a:p>
        </p:txBody>
      </p:sp>
      <p:cxnSp>
        <p:nvCxnSpPr>
          <p:cNvPr id="19" name="rule"/>
          <p:cNvCxnSpPr/>
          <p:nvPr/>
        </p:nvCxnSpPr>
        <p:spPr>
          <a:xfrm>
            <a:off x="822960" y="5001768"/>
            <a:ext cx="10195560" cy="0"/>
          </a:xfrm>
          <a:prstGeom prst="line">
            <a:avLst/>
          </a:prstGeom>
          <a:ln w="8500">
            <a:solidFill>
              <a:srgbClr val="D9E2E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914400" y="5559552"/>
            <a:ext cx="10378440" cy="457200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50" b="1">
                <a:solidFill>
                  <a:srgbClr val="174C3C"/>
                </a:solidFill>
                <a:latin typeface="Aptos"/>
              </a:rPr>
              <a:t>Component interaction: browser form -&gt; Flask route -&gt; MySQL query -&gt; dashboard template renders updated records.</a:t>
            </a:r>
            <a:endParaRPr lang="en-US" sz="1350"/>
          </a:p>
        </p:txBody>
      </p:sp>
      <p:sp>
        <p:nvSpPr>
          <p:cNvPr id="21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09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llaboration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6. Collaboration and Documentation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We used GitHub as the team's collaboration hub.</a:t>
            </a:r>
            <a:endParaRPr lang="en-US" sz="1500"/>
          </a:p>
        </p:txBody>
      </p:sp>
      <p:sp>
        <p:nvSpPr>
          <p:cNvPr id="5" name="github"/>
          <p:cNvSpPr/>
          <p:nvPr/>
        </p:nvSpPr>
        <p:spPr>
          <a:xfrm>
            <a:off x="777240" y="173736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1051560" y="19933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74C3C"/>
                </a:solidFill>
                <a:latin typeface="Aptos"/>
              </a:rPr>
              <a:t>GitHub Usage</a:t>
            </a:r>
            <a:endParaRPr lang="en-US" sz="1600"/>
          </a:p>
        </p:txBody>
      </p:sp>
      <p:sp>
        <p:nvSpPr>
          <p:cNvPr id="7" name="text"/>
          <p:cNvSpPr txBox="1"/>
          <p:nvPr/>
        </p:nvSpPr>
        <p:spPr>
          <a:xfrm>
            <a:off x="1051560" y="2560320"/>
            <a:ext cx="3977639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Shared repository for project code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Commits tracked changes over time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Role-based updates before integration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Repository used to keep files consistent</a:t>
            </a:r>
            <a:endParaRPr lang="en-US" sz="1080"/>
          </a:p>
        </p:txBody>
      </p:sp>
      <p:sp>
        <p:nvSpPr>
          <p:cNvPr id="8" name="docs"/>
          <p:cNvSpPr/>
          <p:nvPr/>
        </p:nvSpPr>
        <p:spPr>
          <a:xfrm>
            <a:off x="6355080" y="173736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6629400" y="19933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74C3C"/>
                </a:solidFill>
                <a:latin typeface="Aptos"/>
              </a:rPr>
              <a:t>Documentation</a:t>
            </a:r>
            <a:endParaRPr lang="en-US" sz="1600"/>
          </a:p>
        </p:txBody>
      </p:sp>
      <p:sp>
        <p:nvSpPr>
          <p:cNvPr id="10" name="text"/>
          <p:cNvSpPr txBox="1"/>
          <p:nvPr/>
        </p:nvSpPr>
        <p:spPr>
          <a:xfrm>
            <a:off x="6629400" y="2560320"/>
            <a:ext cx="3977639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README for setup and project overview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Docstrings/comments for important functions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Test plan documents quality checks</a:t>
            </a:r>
            <a:endParaRPr lang="en-US" sz="1080"/>
          </a:p>
          <a:p>
            <a:pPr algn="l"/>
            <a:r>
              <a:rPr lang="en-US" sz="1080">
                <a:solidFill>
                  <a:srgbClr val="657284"/>
                </a:solidFill>
                <a:latin typeface="Aptos"/>
              </a:rPr>
              <a:t>Speaking guide divides presentation roles</a:t>
            </a:r>
            <a:endParaRPr lang="en-US" sz="1080"/>
          </a:p>
        </p:txBody>
      </p:sp>
      <p:sp>
        <p:nvSpPr>
          <p:cNvPr id="11" name="text"/>
          <p:cNvSpPr txBox="1"/>
          <p:nvPr/>
        </p:nvSpPr>
        <p:spPr>
          <a:xfrm>
            <a:off x="914400" y="5532120"/>
            <a:ext cx="10378440" cy="457200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50" b="1">
                <a:solidFill>
                  <a:srgbClr val="174C3C"/>
                </a:solidFill>
                <a:latin typeface="Aptos"/>
              </a:rPr>
              <a:t>Team communication: check-ins were used to coordinate timeline, resolve integration issues, and prepare the final demo.</a:t>
            </a:r>
            <a:endParaRPr lang="en-US" sz="1350"/>
          </a:p>
        </p:txBody>
      </p:sp>
      <p:sp>
        <p:nvSpPr>
          <p:cNvPr id="12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10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sting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7. Testing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The system passed planned functional, validation, security, and startup tests.</a:t>
            </a:r>
            <a:endParaRPr lang="en-US" sz="1500"/>
          </a:p>
        </p:txBody>
      </p:sp>
      <p:sp>
        <p:nvSpPr>
          <p:cNvPr id="5" name="test count"/>
          <p:cNvSpPr/>
          <p:nvPr/>
        </p:nvSpPr>
        <p:spPr>
          <a:xfrm>
            <a:off x="777240" y="1920240"/>
            <a:ext cx="2743200" cy="2331720"/>
          </a:xfrm>
          <a:prstGeom prst="roundRect">
            <a:avLst/>
          </a:prstGeom>
          <a:solidFill>
            <a:srgbClr val="174C3C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1143000" y="23317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Aptos"/>
              </a:rPr>
              <a:t>20</a:t>
            </a:r>
            <a:endParaRPr lang="en-US" sz="5200"/>
          </a:p>
        </p:txBody>
      </p:sp>
      <p:sp>
        <p:nvSpPr>
          <p:cNvPr id="7" name="text"/>
          <p:cNvSpPr txBox="1"/>
          <p:nvPr/>
        </p:nvSpPr>
        <p:spPr>
          <a:xfrm>
            <a:off x="960120" y="33375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>
                <a:solidFill>
                  <a:srgbClr val="DDEFE7"/>
                </a:solidFill>
                <a:latin typeface="Aptos"/>
              </a:rPr>
              <a:t>planned test cases passed</a:t>
            </a:r>
            <a:endParaRPr lang="en-US" sz="1400"/>
          </a:p>
        </p:txBody>
      </p:sp>
      <p:sp>
        <p:nvSpPr>
          <p:cNvPr id="8" name="UI workflow"/>
          <p:cNvSpPr/>
          <p:nvPr/>
        </p:nvSpPr>
        <p:spPr>
          <a:xfrm>
            <a:off x="3977639" y="1874519"/>
            <a:ext cx="3154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178807" y="203911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80" b="1">
                <a:solidFill>
                  <a:srgbClr val="1E2735"/>
                </a:solidFill>
                <a:latin typeface="Aptos"/>
              </a:rPr>
              <a:t>UI workflow</a:t>
            </a:r>
            <a:endParaRPr lang="en-US" sz="1280"/>
          </a:p>
        </p:txBody>
      </p:sp>
      <p:sp>
        <p:nvSpPr>
          <p:cNvPr id="10" name="text"/>
          <p:cNvSpPr txBox="1"/>
          <p:nvPr/>
        </p:nvSpPr>
        <p:spPr>
          <a:xfrm>
            <a:off x="4178807" y="237743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>
                <a:solidFill>
                  <a:srgbClr val="657284"/>
                </a:solidFill>
                <a:latin typeface="Aptos"/>
              </a:rPr>
              <a:t>registration, login, dashboard, logout</a:t>
            </a:r>
            <a:endParaRPr lang="en-US" sz="920"/>
          </a:p>
        </p:txBody>
      </p:sp>
      <p:sp>
        <p:nvSpPr>
          <p:cNvPr id="11" name="Integration"/>
          <p:cNvSpPr/>
          <p:nvPr/>
        </p:nvSpPr>
        <p:spPr>
          <a:xfrm>
            <a:off x="7635240" y="1874519"/>
            <a:ext cx="3154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7836408" y="203911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80" b="1">
                <a:solidFill>
                  <a:srgbClr val="1E2735"/>
                </a:solidFill>
                <a:latin typeface="Aptos"/>
              </a:rPr>
              <a:t>Integration</a:t>
            </a:r>
            <a:endParaRPr lang="en-US" sz="1280"/>
          </a:p>
        </p:txBody>
      </p:sp>
      <p:sp>
        <p:nvSpPr>
          <p:cNvPr id="13" name="text"/>
          <p:cNvSpPr txBox="1"/>
          <p:nvPr/>
        </p:nvSpPr>
        <p:spPr>
          <a:xfrm>
            <a:off x="7836408" y="237743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>
                <a:solidFill>
                  <a:srgbClr val="657284"/>
                </a:solidFill>
                <a:latin typeface="Aptos"/>
              </a:rPr>
              <a:t>Flask routes connected to MySQL records</a:t>
            </a:r>
            <a:endParaRPr lang="en-US" sz="920"/>
          </a:p>
        </p:txBody>
      </p:sp>
      <p:sp>
        <p:nvSpPr>
          <p:cNvPr id="14" name="Application CRUD"/>
          <p:cNvSpPr/>
          <p:nvPr/>
        </p:nvSpPr>
        <p:spPr>
          <a:xfrm>
            <a:off x="3977639" y="3291839"/>
            <a:ext cx="3154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178807" y="345643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80" b="1">
                <a:solidFill>
                  <a:srgbClr val="1E2735"/>
                </a:solidFill>
                <a:latin typeface="Aptos"/>
              </a:rPr>
              <a:t>Application CRUD</a:t>
            </a:r>
            <a:endParaRPr lang="en-US" sz="1280"/>
          </a:p>
        </p:txBody>
      </p:sp>
      <p:sp>
        <p:nvSpPr>
          <p:cNvPr id="16" name="text"/>
          <p:cNvSpPr txBox="1"/>
          <p:nvPr/>
        </p:nvSpPr>
        <p:spPr>
          <a:xfrm>
            <a:off x="4178807" y="379475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>
                <a:solidFill>
                  <a:srgbClr val="657284"/>
                </a:solidFill>
                <a:latin typeface="Aptos"/>
              </a:rPr>
              <a:t>add, update status, delete records</a:t>
            </a:r>
            <a:endParaRPr lang="en-US" sz="920"/>
          </a:p>
        </p:txBody>
      </p:sp>
      <p:sp>
        <p:nvSpPr>
          <p:cNvPr id="17" name="Error/security"/>
          <p:cNvSpPr/>
          <p:nvPr/>
        </p:nvSpPr>
        <p:spPr>
          <a:xfrm>
            <a:off x="7635240" y="3291839"/>
            <a:ext cx="3154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7836408" y="345643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80" b="1">
                <a:solidFill>
                  <a:srgbClr val="1E2735"/>
                </a:solidFill>
                <a:latin typeface="Aptos"/>
              </a:rPr>
              <a:t>Error/security</a:t>
            </a:r>
            <a:endParaRPr lang="en-US" sz="1280"/>
          </a:p>
        </p:txBody>
      </p:sp>
      <p:sp>
        <p:nvSpPr>
          <p:cNvPr id="19" name="text"/>
          <p:cNvSpPr txBox="1"/>
          <p:nvPr/>
        </p:nvSpPr>
        <p:spPr>
          <a:xfrm>
            <a:off x="7836408" y="379475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>
                <a:solidFill>
                  <a:srgbClr val="657284"/>
                </a:solidFill>
                <a:latin typeface="Aptos"/>
              </a:rPr>
              <a:t>duplicates, invalid login, SQL-like input, MySQL stopped</a:t>
            </a:r>
            <a:endParaRPr lang="en-US" sz="920"/>
          </a:p>
        </p:txBody>
      </p:sp>
      <p:sp>
        <p:nvSpPr>
          <p:cNvPr id="20" name="text"/>
          <p:cNvSpPr txBox="1"/>
          <p:nvPr/>
        </p:nvSpPr>
        <p:spPr>
          <a:xfrm>
            <a:off x="914400" y="5166360"/>
            <a:ext cx="10424160" cy="530352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500" b="1">
                <a:solidFill>
                  <a:srgbClr val="174C3C"/>
                </a:solidFill>
                <a:latin typeface="Aptos"/>
              </a:rPr>
              <a:t>Tools used: Safari UI checks, Flask local server, MySQL/XAMPP, manual test plan, and Python syntax check.</a:t>
            </a:r>
            <a:endParaRPr lang="en-US" sz="1500"/>
          </a:p>
        </p:txBody>
      </p:sp>
      <p:sp>
        <p:nvSpPr>
          <p:cNvPr id="21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11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8. Software Demonstration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Show the working software live; screenshots are backup only.</a:t>
            </a:r>
            <a:endParaRPr lang="en-US" sz="1500"/>
          </a:p>
        </p:txBody>
      </p:sp>
      <p:sp>
        <p:nvSpPr>
          <p:cNvPr id="5" name="Start"/>
          <p:cNvSpPr/>
          <p:nvPr/>
        </p:nvSpPr>
        <p:spPr>
          <a:xfrm>
            <a:off x="594360" y="178308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795528" y="194767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50" b="1">
                <a:solidFill>
                  <a:srgbClr val="174C3C"/>
                </a:solidFill>
                <a:latin typeface="Aptos"/>
              </a:rPr>
              <a:t>1. Start</a:t>
            </a:r>
            <a:endParaRPr lang="en-US" sz="1150"/>
          </a:p>
        </p:txBody>
      </p:sp>
      <p:sp>
        <p:nvSpPr>
          <p:cNvPr id="7" name="text"/>
          <p:cNvSpPr txBox="1"/>
          <p:nvPr/>
        </p:nvSpPr>
        <p:spPr>
          <a:xfrm>
            <a:off x="795528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30">
                <a:solidFill>
                  <a:srgbClr val="657284"/>
                </a:solidFill>
                <a:latin typeface="Aptos"/>
              </a:rPr>
              <a:t>Run python3 app.py with XAMPP MySQL on.</a:t>
            </a:r>
            <a:endParaRPr lang="en-US" sz="830"/>
          </a:p>
        </p:txBody>
      </p:sp>
      <p:sp>
        <p:nvSpPr>
          <p:cNvPr id="8" name="Register/Login"/>
          <p:cNvSpPr/>
          <p:nvPr/>
        </p:nvSpPr>
        <p:spPr>
          <a:xfrm>
            <a:off x="4361688" y="178308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562856" y="194767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50" b="1">
                <a:solidFill>
                  <a:srgbClr val="174C3C"/>
                </a:solidFill>
                <a:latin typeface="Aptos"/>
              </a:rPr>
              <a:t>2. Register/Login</a:t>
            </a:r>
            <a:endParaRPr lang="en-US" sz="1150"/>
          </a:p>
        </p:txBody>
      </p:sp>
      <p:sp>
        <p:nvSpPr>
          <p:cNvPr id="10" name="text"/>
          <p:cNvSpPr txBox="1"/>
          <p:nvPr/>
        </p:nvSpPr>
        <p:spPr>
          <a:xfrm>
            <a:off x="4562856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30">
                <a:solidFill>
                  <a:srgbClr val="657284"/>
                </a:solidFill>
                <a:latin typeface="Aptos"/>
              </a:rPr>
              <a:t>Create or use a test account.</a:t>
            </a:r>
            <a:endParaRPr lang="en-US" sz="830"/>
          </a:p>
        </p:txBody>
      </p:sp>
      <p:sp>
        <p:nvSpPr>
          <p:cNvPr id="11" name="Add"/>
          <p:cNvSpPr/>
          <p:nvPr/>
        </p:nvSpPr>
        <p:spPr>
          <a:xfrm>
            <a:off x="8129016" y="178308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330184" y="194767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50" b="1">
                <a:solidFill>
                  <a:srgbClr val="174C3C"/>
                </a:solidFill>
                <a:latin typeface="Aptos"/>
              </a:rPr>
              <a:t>3. Add</a:t>
            </a:r>
            <a:endParaRPr lang="en-US" sz="1150"/>
          </a:p>
        </p:txBody>
      </p:sp>
      <p:sp>
        <p:nvSpPr>
          <p:cNvPr id="13" name="text"/>
          <p:cNvSpPr txBox="1"/>
          <p:nvPr/>
        </p:nvSpPr>
        <p:spPr>
          <a:xfrm>
            <a:off x="8330184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30">
                <a:solidFill>
                  <a:srgbClr val="657284"/>
                </a:solidFill>
                <a:latin typeface="Aptos"/>
              </a:rPr>
              <a:t>Enter company, role, status, deadline, notes.</a:t>
            </a:r>
            <a:endParaRPr lang="en-US" sz="830"/>
          </a:p>
        </p:txBody>
      </p:sp>
      <p:sp>
        <p:nvSpPr>
          <p:cNvPr id="14" name="Search/Filter"/>
          <p:cNvSpPr/>
          <p:nvPr/>
        </p:nvSpPr>
        <p:spPr>
          <a:xfrm>
            <a:off x="594360" y="3264408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795528" y="34290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50" b="1">
                <a:solidFill>
                  <a:srgbClr val="174C3C"/>
                </a:solidFill>
                <a:latin typeface="Aptos"/>
              </a:rPr>
              <a:t>4. Search/Filter</a:t>
            </a:r>
            <a:endParaRPr lang="en-US" sz="1150"/>
          </a:p>
        </p:txBody>
      </p:sp>
      <p:sp>
        <p:nvSpPr>
          <p:cNvPr id="16" name="text"/>
          <p:cNvSpPr txBox="1"/>
          <p:nvPr/>
        </p:nvSpPr>
        <p:spPr>
          <a:xfrm>
            <a:off x="795528" y="37673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30">
                <a:solidFill>
                  <a:srgbClr val="657284"/>
                </a:solidFill>
                <a:latin typeface="Aptos"/>
              </a:rPr>
              <a:t>Search by role/company and filter by status.</a:t>
            </a:r>
            <a:endParaRPr lang="en-US" sz="830"/>
          </a:p>
        </p:txBody>
      </p:sp>
      <p:sp>
        <p:nvSpPr>
          <p:cNvPr id="17" name="Update/Delete"/>
          <p:cNvSpPr/>
          <p:nvPr/>
        </p:nvSpPr>
        <p:spPr>
          <a:xfrm>
            <a:off x="4361688" y="3264408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4562856" y="34290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50" b="1">
                <a:solidFill>
                  <a:srgbClr val="174C3C"/>
                </a:solidFill>
                <a:latin typeface="Aptos"/>
              </a:rPr>
              <a:t>5. Update/Delete</a:t>
            </a:r>
            <a:endParaRPr lang="en-US" sz="1150"/>
          </a:p>
        </p:txBody>
      </p:sp>
      <p:sp>
        <p:nvSpPr>
          <p:cNvPr id="19" name="text"/>
          <p:cNvSpPr txBox="1"/>
          <p:nvPr/>
        </p:nvSpPr>
        <p:spPr>
          <a:xfrm>
            <a:off x="4562856" y="37673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30">
                <a:solidFill>
                  <a:srgbClr val="657284"/>
                </a:solidFill>
                <a:latin typeface="Aptos"/>
              </a:rPr>
              <a:t>Change status, save, then delete a sample.</a:t>
            </a:r>
            <a:endParaRPr lang="en-US" sz="830"/>
          </a:p>
        </p:txBody>
      </p:sp>
      <p:sp>
        <p:nvSpPr>
          <p:cNvPr id="20" name="Error Handling"/>
          <p:cNvSpPr/>
          <p:nvPr/>
        </p:nvSpPr>
        <p:spPr>
          <a:xfrm>
            <a:off x="8129016" y="3264408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8330184" y="34290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50" b="1">
                <a:solidFill>
                  <a:srgbClr val="174C3C"/>
                </a:solidFill>
                <a:latin typeface="Aptos"/>
              </a:rPr>
              <a:t>6. Error Handling</a:t>
            </a:r>
            <a:endParaRPr lang="en-US" sz="1150"/>
          </a:p>
        </p:txBody>
      </p:sp>
      <p:sp>
        <p:nvSpPr>
          <p:cNvPr id="22" name="text"/>
          <p:cNvSpPr txBox="1"/>
          <p:nvPr/>
        </p:nvSpPr>
        <p:spPr>
          <a:xfrm>
            <a:off x="8330184" y="37673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30">
                <a:solidFill>
                  <a:srgbClr val="657284"/>
                </a:solidFill>
                <a:latin typeface="Aptos"/>
              </a:rPr>
              <a:t>Show invalid login or protected dashboard redirect.</a:t>
            </a:r>
            <a:endParaRPr lang="en-US" sz="830"/>
          </a:p>
        </p:txBody>
      </p:sp>
      <p:sp>
        <p:nvSpPr>
          <p:cNvPr id="23" name="text"/>
          <p:cNvSpPr txBox="1"/>
          <p:nvPr/>
        </p:nvSpPr>
        <p:spPr>
          <a:xfrm>
            <a:off x="914400" y="5349240"/>
            <a:ext cx="10378440" cy="457200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1">
                <a:solidFill>
                  <a:srgbClr val="174C3C"/>
                </a:solidFill>
                <a:latin typeface="Aptos"/>
              </a:rPr>
              <a:t>If an error happens: explain it calmly, show the related code or test result, and continue with the prepared demo path.</a:t>
            </a:r>
            <a:endParaRPr lang="en-US" sz="1400"/>
          </a:p>
        </p:txBody>
      </p:sp>
      <p:sp>
        <p:nvSpPr>
          <p:cNvPr id="24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12</a:t>
            </a:r>
            <a:endParaRPr lang="en-US" sz="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urity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Validation and Security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The app reduces common risk through authentication checks, scoped queries, and input validation.</a:t>
            </a:r>
            <a:endParaRPr lang="en-US" sz="1500"/>
          </a:p>
        </p:txBody>
      </p:sp>
      <p:sp>
        <p:nvSpPr>
          <p:cNvPr id="5" name="dot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D99B2B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1417320" y="17647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E2735"/>
                </a:solidFill>
                <a:latin typeface="Aptos"/>
              </a:rPr>
              <a:t>Hashed passwords</a:t>
            </a:r>
            <a:endParaRPr lang="en-US" sz="1450"/>
          </a:p>
        </p:txBody>
      </p:sp>
      <p:sp>
        <p:nvSpPr>
          <p:cNvPr id="7" name="text"/>
          <p:cNvSpPr txBox="1"/>
          <p:nvPr/>
        </p:nvSpPr>
        <p:spPr>
          <a:xfrm>
            <a:off x="4572000" y="1764792"/>
            <a:ext cx="6355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New passwords are stored using pbkdf2:sha256 instead of plain text.</a:t>
            </a:r>
            <a:endParaRPr lang="en-US" sz="1200"/>
          </a:p>
        </p:txBody>
      </p:sp>
      <p:sp>
        <p:nvSpPr>
          <p:cNvPr id="8" name="dot"/>
          <p:cNvSpPr/>
          <p:nvPr/>
        </p:nvSpPr>
        <p:spPr>
          <a:xfrm>
            <a:off x="822960" y="2770632"/>
            <a:ext cx="384048" cy="384048"/>
          </a:xfrm>
          <a:prstGeom prst="ellipse">
            <a:avLst/>
          </a:prstGeom>
          <a:solidFill>
            <a:srgbClr val="D99B2B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1417320" y="275234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E2735"/>
                </a:solidFill>
                <a:latin typeface="Aptos"/>
              </a:rPr>
              <a:t>Route protection</a:t>
            </a:r>
            <a:endParaRPr lang="en-US" sz="1450"/>
          </a:p>
        </p:txBody>
      </p:sp>
      <p:sp>
        <p:nvSpPr>
          <p:cNvPr id="10" name="text"/>
          <p:cNvSpPr txBox="1"/>
          <p:nvPr/>
        </p:nvSpPr>
        <p:spPr>
          <a:xfrm>
            <a:off x="4572000" y="2752344"/>
            <a:ext cx="6355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Dashboard, add, update, and delete actions require an active session.</a:t>
            </a:r>
            <a:endParaRPr lang="en-US" sz="1200"/>
          </a:p>
        </p:txBody>
      </p:sp>
      <p:sp>
        <p:nvSpPr>
          <p:cNvPr id="11" name="dot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D99B2B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1417320" y="373989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E2735"/>
                </a:solidFill>
                <a:latin typeface="Aptos"/>
              </a:rPr>
              <a:t>SQL safety</a:t>
            </a:r>
            <a:endParaRPr lang="en-US" sz="1450"/>
          </a:p>
        </p:txBody>
      </p:sp>
      <p:sp>
        <p:nvSpPr>
          <p:cNvPr id="13" name="text"/>
          <p:cNvSpPr txBox="1"/>
          <p:nvPr/>
        </p:nvSpPr>
        <p:spPr>
          <a:xfrm>
            <a:off x="4572000" y="3739896"/>
            <a:ext cx="6355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Parameterized queries treat SQL-like input as text.</a:t>
            </a:r>
            <a:endParaRPr lang="en-US" sz="1200"/>
          </a:p>
        </p:txBody>
      </p:sp>
      <p:sp>
        <p:nvSpPr>
          <p:cNvPr id="14" name="dot"/>
          <p:cNvSpPr/>
          <p:nvPr/>
        </p:nvSpPr>
        <p:spPr>
          <a:xfrm>
            <a:off x="822960" y="4745736"/>
            <a:ext cx="384048" cy="384048"/>
          </a:xfrm>
          <a:prstGeom prst="ellipse">
            <a:avLst/>
          </a:prstGeom>
          <a:solidFill>
            <a:srgbClr val="D99B2B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1417320" y="47274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E2735"/>
                </a:solidFill>
                <a:latin typeface="Aptos"/>
              </a:rPr>
              <a:t>User privacy</a:t>
            </a:r>
            <a:endParaRPr lang="en-US" sz="1450"/>
          </a:p>
        </p:txBody>
      </p:sp>
      <p:sp>
        <p:nvSpPr>
          <p:cNvPr id="16" name="text"/>
          <p:cNvSpPr txBox="1"/>
          <p:nvPr/>
        </p:nvSpPr>
        <p:spPr>
          <a:xfrm>
            <a:off x="4572000" y="4727448"/>
            <a:ext cx="6355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657284"/>
                </a:solidFill>
                <a:latin typeface="Aptos"/>
              </a:rPr>
              <a:t>Dashboard, update, and delete queries include the current user's id.</a:t>
            </a:r>
            <a:endParaRPr lang="en-US" sz="1200"/>
          </a:p>
        </p:txBody>
      </p:sp>
      <p:sp>
        <p:nvSpPr>
          <p:cNvPr id="17" name="security message"/>
          <p:cNvSpPr/>
          <p:nvPr/>
        </p:nvSpPr>
        <p:spPr>
          <a:xfrm>
            <a:off x="822960" y="5669280"/>
            <a:ext cx="10607040" cy="457200"/>
          </a:xfrm>
          <a:prstGeom prst="roundRect">
            <a:avLst/>
          </a:prstGeom>
          <a:solidFill>
            <a:srgbClr val="174C3C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1051560" y="576986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Security is built into the workflow, not added as an afterthought.</a:t>
            </a:r>
            <a:endParaRPr lang="en-US" sz="1300"/>
          </a:p>
        </p:txBody>
      </p:sp>
      <p:sp>
        <p:nvSpPr>
          <p:cNvPr id="19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13</a:t>
            </a:r>
            <a:endParaRPr lang="en-US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Contribution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9. Team Contribution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Each person owned a clear part of planning, design, implementation, interface, and quality.</a:t>
            </a:r>
            <a:endParaRPr lang="en-US" sz="1500"/>
          </a:p>
        </p:txBody>
      </p:sp>
      <p:sp>
        <p:nvSpPr>
          <p:cNvPr id="5" name="Alhaji Kargbo"/>
          <p:cNvSpPr/>
          <p:nvPr/>
        </p:nvSpPr>
        <p:spPr>
          <a:xfrm>
            <a:off x="640080" y="182880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41247" y="2011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20" b="1">
                <a:solidFill>
                  <a:srgbClr val="1E2735"/>
                </a:solidFill>
                <a:latin typeface="Aptos"/>
              </a:rPr>
              <a:t>Alhaji Kargbo</a:t>
            </a:r>
            <a:endParaRPr lang="en-US" sz="1220"/>
          </a:p>
        </p:txBody>
      </p:sp>
      <p:sp>
        <p:nvSpPr>
          <p:cNvPr id="7" name="text"/>
          <p:cNvSpPr txBox="1"/>
          <p:nvPr/>
        </p:nvSpPr>
        <p:spPr>
          <a:xfrm>
            <a:off x="841247" y="2331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50" b="1">
                <a:solidFill>
                  <a:srgbClr val="28785F"/>
                </a:solidFill>
                <a:latin typeface="Aptos"/>
              </a:rPr>
              <a:t>Project Manager</a:t>
            </a:r>
            <a:endParaRPr lang="en-US" sz="950"/>
          </a:p>
        </p:txBody>
      </p:sp>
      <p:sp>
        <p:nvSpPr>
          <p:cNvPr id="8" name="text"/>
          <p:cNvSpPr txBox="1"/>
          <p:nvPr/>
        </p:nvSpPr>
        <p:spPr>
          <a:xfrm>
            <a:off x="841247" y="263347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>
                <a:solidFill>
                  <a:srgbClr val="657284"/>
                </a:solidFill>
                <a:latin typeface="Aptos"/>
              </a:rPr>
              <a:t>Coordinated team timeline, scope, presentation flow, and completion.</a:t>
            </a:r>
            <a:endParaRPr lang="en-US" sz="720"/>
          </a:p>
        </p:txBody>
      </p:sp>
      <p:sp>
        <p:nvSpPr>
          <p:cNvPr id="9" name="Renae Washington"/>
          <p:cNvSpPr/>
          <p:nvPr/>
        </p:nvSpPr>
        <p:spPr>
          <a:xfrm>
            <a:off x="4343400" y="182880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4544568" y="2011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20" b="1">
                <a:solidFill>
                  <a:srgbClr val="1E2735"/>
                </a:solidFill>
                <a:latin typeface="Aptos"/>
              </a:rPr>
              <a:t>Renae Washington</a:t>
            </a:r>
            <a:endParaRPr lang="en-US" sz="1220"/>
          </a:p>
        </p:txBody>
      </p:sp>
      <p:sp>
        <p:nvSpPr>
          <p:cNvPr id="11" name="text"/>
          <p:cNvSpPr txBox="1"/>
          <p:nvPr/>
        </p:nvSpPr>
        <p:spPr>
          <a:xfrm>
            <a:off x="4544568" y="2331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50" b="1">
                <a:solidFill>
                  <a:srgbClr val="28785F"/>
                </a:solidFill>
                <a:latin typeface="Aptos"/>
              </a:rPr>
              <a:t>Software Architect</a:t>
            </a:r>
            <a:endParaRPr lang="en-US" sz="950"/>
          </a:p>
        </p:txBody>
      </p:sp>
      <p:sp>
        <p:nvSpPr>
          <p:cNvPr id="12" name="text"/>
          <p:cNvSpPr txBox="1"/>
          <p:nvPr/>
        </p:nvSpPr>
        <p:spPr>
          <a:xfrm>
            <a:off x="4544568" y="263347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>
                <a:solidFill>
                  <a:srgbClr val="657284"/>
                </a:solidFill>
                <a:latin typeface="Aptos"/>
              </a:rPr>
              <a:t>Designed system structure, database relationship, and architecture decisions.</a:t>
            </a:r>
            <a:endParaRPr lang="en-US" sz="720"/>
          </a:p>
        </p:txBody>
      </p:sp>
      <p:sp>
        <p:nvSpPr>
          <p:cNvPr id="13" name="Langston Gwinn"/>
          <p:cNvSpPr/>
          <p:nvPr/>
        </p:nvSpPr>
        <p:spPr>
          <a:xfrm>
            <a:off x="8046719" y="182880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8247888" y="2011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20" b="1">
                <a:solidFill>
                  <a:srgbClr val="1E2735"/>
                </a:solidFill>
                <a:latin typeface="Aptos"/>
              </a:rPr>
              <a:t>Langston Gwinn</a:t>
            </a:r>
            <a:endParaRPr lang="en-US" sz="1220"/>
          </a:p>
        </p:txBody>
      </p:sp>
      <p:sp>
        <p:nvSpPr>
          <p:cNvPr id="15" name="text"/>
          <p:cNvSpPr txBox="1"/>
          <p:nvPr/>
        </p:nvSpPr>
        <p:spPr>
          <a:xfrm>
            <a:off x="8247888" y="2331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50" b="1">
                <a:solidFill>
                  <a:srgbClr val="28785F"/>
                </a:solidFill>
                <a:latin typeface="Aptos"/>
              </a:rPr>
              <a:t>Backend Developer</a:t>
            </a:r>
            <a:endParaRPr lang="en-US" sz="950"/>
          </a:p>
        </p:txBody>
      </p:sp>
      <p:sp>
        <p:nvSpPr>
          <p:cNvPr id="16" name="text"/>
          <p:cNvSpPr txBox="1"/>
          <p:nvPr/>
        </p:nvSpPr>
        <p:spPr>
          <a:xfrm>
            <a:off x="8247888" y="263347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>
                <a:solidFill>
                  <a:srgbClr val="657284"/>
                </a:solidFill>
                <a:latin typeface="Aptos"/>
              </a:rPr>
              <a:t>Built routes, sessions, database integration, validation, and CRUD functionality.</a:t>
            </a:r>
            <a:endParaRPr lang="en-US" sz="720"/>
          </a:p>
        </p:txBody>
      </p:sp>
      <p:sp>
        <p:nvSpPr>
          <p:cNvPr id="17" name="Quincy King"/>
          <p:cNvSpPr/>
          <p:nvPr/>
        </p:nvSpPr>
        <p:spPr>
          <a:xfrm>
            <a:off x="640080" y="370332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841247" y="3886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20" b="1">
                <a:solidFill>
                  <a:srgbClr val="1E2735"/>
                </a:solidFill>
                <a:latin typeface="Aptos"/>
              </a:rPr>
              <a:t>Quincy King</a:t>
            </a:r>
            <a:endParaRPr lang="en-US" sz="1220"/>
          </a:p>
        </p:txBody>
      </p:sp>
      <p:sp>
        <p:nvSpPr>
          <p:cNvPr id="19" name="text"/>
          <p:cNvSpPr txBox="1"/>
          <p:nvPr/>
        </p:nvSpPr>
        <p:spPr>
          <a:xfrm>
            <a:off x="841247" y="42062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50" b="1">
                <a:solidFill>
                  <a:srgbClr val="28785F"/>
                </a:solidFill>
                <a:latin typeface="Aptos"/>
              </a:rPr>
              <a:t>Frontend Developer</a:t>
            </a:r>
            <a:endParaRPr lang="en-US" sz="950"/>
          </a:p>
        </p:txBody>
      </p:sp>
      <p:sp>
        <p:nvSpPr>
          <p:cNvPr id="20" name="text"/>
          <p:cNvSpPr txBox="1"/>
          <p:nvPr/>
        </p:nvSpPr>
        <p:spPr>
          <a:xfrm>
            <a:off x="841247" y="450799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>
                <a:solidFill>
                  <a:srgbClr val="657284"/>
                </a:solidFill>
                <a:latin typeface="Aptos"/>
              </a:rPr>
              <a:t>Designed dashboard UI, responsive CSS, forms, tables, and status badges.</a:t>
            </a:r>
            <a:endParaRPr lang="en-US" sz="720"/>
          </a:p>
        </p:txBody>
      </p:sp>
      <p:sp>
        <p:nvSpPr>
          <p:cNvPr id="21" name="Ali-Andro Thaxter"/>
          <p:cNvSpPr/>
          <p:nvPr/>
        </p:nvSpPr>
        <p:spPr>
          <a:xfrm>
            <a:off x="4343400" y="370332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4544568" y="3886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20" b="1">
                <a:solidFill>
                  <a:srgbClr val="1E2735"/>
                </a:solidFill>
                <a:latin typeface="Aptos"/>
              </a:rPr>
              <a:t>Ali-Andro Thaxter</a:t>
            </a:r>
            <a:endParaRPr lang="en-US" sz="1220"/>
          </a:p>
        </p:txBody>
      </p:sp>
      <p:sp>
        <p:nvSpPr>
          <p:cNvPr id="23" name="text"/>
          <p:cNvSpPr txBox="1"/>
          <p:nvPr/>
        </p:nvSpPr>
        <p:spPr>
          <a:xfrm>
            <a:off x="4544568" y="42062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50" b="1">
                <a:solidFill>
                  <a:srgbClr val="28785F"/>
                </a:solidFill>
                <a:latin typeface="Aptos"/>
              </a:rPr>
              <a:t>Software Tester</a:t>
            </a:r>
            <a:endParaRPr lang="en-US" sz="950"/>
          </a:p>
        </p:txBody>
      </p:sp>
      <p:sp>
        <p:nvSpPr>
          <p:cNvPr id="24" name="text"/>
          <p:cNvSpPr txBox="1"/>
          <p:nvPr/>
        </p:nvSpPr>
        <p:spPr>
          <a:xfrm>
            <a:off x="4544568" y="450799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>
                <a:solidFill>
                  <a:srgbClr val="657284"/>
                </a:solidFill>
                <a:latin typeface="Aptos"/>
              </a:rPr>
              <a:t>Created test plan/results, checked workflows, found bugs, and confirmed quality.</a:t>
            </a:r>
            <a:endParaRPr lang="en-US" sz="720"/>
          </a:p>
        </p:txBody>
      </p:sp>
      <p:sp>
        <p:nvSpPr>
          <p:cNvPr id="25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14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t Steps"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50" b="1">
                <a:solidFill>
                  <a:srgbClr val="1E2735"/>
                </a:solidFill>
                <a:latin typeface="Aptos"/>
              </a:rPr>
              <a:t>Future Improvements</a:t>
            </a:r>
            <a:endParaRPr lang="en-US" sz="3150"/>
          </a:p>
        </p:txBody>
      </p:sp>
      <p:cxnSp>
        <p:nvCxnSpPr>
          <p:cNvPr id="3" name="rule"/>
          <p:cNvCxnSpPr/>
          <p:nvPr/>
        </p:nvCxnSpPr>
        <p:spPr>
          <a:xfrm>
            <a:off x="594360" y="1078992"/>
            <a:ext cx="11430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94360" y="1188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>
                <a:solidFill>
                  <a:srgbClr val="657284"/>
                </a:solidFill>
                <a:latin typeface="Aptos"/>
              </a:rPr>
              <a:t>The current version works; the next version can become more automated and career-ready.</a:t>
            </a:r>
            <a:endParaRPr lang="en-US" sz="1500"/>
          </a:p>
        </p:txBody>
      </p:sp>
      <p:sp>
        <p:nvSpPr>
          <p:cNvPr id="5" name="Deadline reminders"/>
          <p:cNvSpPr/>
          <p:nvPr/>
        </p:nvSpPr>
        <p:spPr>
          <a:xfrm>
            <a:off x="731520" y="1965960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87552" y="21671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74C3C"/>
                </a:solidFill>
                <a:latin typeface="Aptos"/>
              </a:rPr>
              <a:t>Deadline reminders</a:t>
            </a:r>
            <a:endParaRPr lang="en-US" sz="1450"/>
          </a:p>
        </p:txBody>
      </p:sp>
      <p:sp>
        <p:nvSpPr>
          <p:cNvPr id="7" name="text"/>
          <p:cNvSpPr txBox="1"/>
          <p:nvPr/>
        </p:nvSpPr>
        <p:spPr>
          <a:xfrm>
            <a:off x="987552" y="2560320"/>
            <a:ext cx="3977639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Notify students before an application date arrives.</a:t>
            </a:r>
            <a:endParaRPr lang="en-US" sz="1050"/>
          </a:p>
        </p:txBody>
      </p:sp>
      <p:sp>
        <p:nvSpPr>
          <p:cNvPr id="8" name="Resume and cover letter uploads"/>
          <p:cNvSpPr/>
          <p:nvPr/>
        </p:nvSpPr>
        <p:spPr>
          <a:xfrm>
            <a:off x="6172200" y="1965960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6428232" y="21671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74C3C"/>
                </a:solidFill>
                <a:latin typeface="Aptos"/>
              </a:rPr>
              <a:t>Resume and cover letter uploads</a:t>
            </a:r>
            <a:endParaRPr lang="en-US" sz="1450"/>
          </a:p>
        </p:txBody>
      </p:sp>
      <p:sp>
        <p:nvSpPr>
          <p:cNvPr id="10" name="text"/>
          <p:cNvSpPr txBox="1"/>
          <p:nvPr/>
        </p:nvSpPr>
        <p:spPr>
          <a:xfrm>
            <a:off x="6428232" y="2560320"/>
            <a:ext cx="3977639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Attach documents to each company record.</a:t>
            </a:r>
            <a:endParaRPr lang="en-US" sz="1050"/>
          </a:p>
        </p:txBody>
      </p:sp>
      <p:sp>
        <p:nvSpPr>
          <p:cNvPr id="11" name="Analytics"/>
          <p:cNvSpPr/>
          <p:nvPr/>
        </p:nvSpPr>
        <p:spPr>
          <a:xfrm>
            <a:off x="731520" y="3749039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987552" y="3950207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74C3C"/>
                </a:solidFill>
                <a:latin typeface="Aptos"/>
              </a:rPr>
              <a:t>Analytics</a:t>
            </a:r>
            <a:endParaRPr lang="en-US" sz="1450"/>
          </a:p>
        </p:txBody>
      </p:sp>
      <p:sp>
        <p:nvSpPr>
          <p:cNvPr id="13" name="text"/>
          <p:cNvSpPr txBox="1"/>
          <p:nvPr/>
        </p:nvSpPr>
        <p:spPr>
          <a:xfrm>
            <a:off x="987552" y="4343400"/>
            <a:ext cx="3977639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Show conversion rates from applied to interview and offer.</a:t>
            </a:r>
            <a:endParaRPr lang="en-US" sz="1050"/>
          </a:p>
        </p:txBody>
      </p:sp>
      <p:sp>
        <p:nvSpPr>
          <p:cNvPr id="14" name="Deployment"/>
          <p:cNvSpPr/>
          <p:nvPr/>
        </p:nvSpPr>
        <p:spPr>
          <a:xfrm>
            <a:off x="6172200" y="3749039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7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428232" y="3950207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>
                <a:solidFill>
                  <a:srgbClr val="174C3C"/>
                </a:solidFill>
                <a:latin typeface="Aptos"/>
              </a:rPr>
              <a:t>Deployment</a:t>
            </a:r>
            <a:endParaRPr lang="en-US" sz="1450"/>
          </a:p>
        </p:txBody>
      </p:sp>
      <p:sp>
        <p:nvSpPr>
          <p:cNvPr id="16" name="text"/>
          <p:cNvSpPr txBox="1"/>
          <p:nvPr/>
        </p:nvSpPr>
        <p:spPr>
          <a:xfrm>
            <a:off x="6428232" y="4343400"/>
            <a:ext cx="3977639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>
                <a:solidFill>
                  <a:srgbClr val="657284"/>
                </a:solidFill>
                <a:latin typeface="Aptos"/>
              </a:rPr>
              <a:t>Host the app online with production database settings.</a:t>
            </a:r>
            <a:endParaRPr lang="en-US" sz="1050"/>
          </a:p>
        </p:txBody>
      </p:sp>
      <p:sp>
        <p:nvSpPr>
          <p:cNvPr id="17" name="text"/>
          <p:cNvSpPr txBox="1"/>
          <p:nvPr/>
        </p:nvSpPr>
        <p:spPr>
          <a:xfrm>
            <a:off x="914400" y="5715000"/>
            <a:ext cx="10241280" cy="402336"/>
          </a:xfrm>
          <a:prstGeom prst="rect">
            <a:avLst/>
          </a:prstGeom>
          <a:solidFill>
            <a:srgbClr val="DFF7EA"/>
          </a:solidFill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50" b="1">
                <a:solidFill>
                  <a:srgbClr val="174C3C"/>
                </a:solidFill>
                <a:latin typeface="Aptos"/>
              </a:rPr>
              <a:t>Next version theme: fewer manual reminders, more insight into the student's career pipeline.</a:t>
            </a:r>
            <a:endParaRPr lang="en-US" sz="1450"/>
          </a:p>
        </p:txBody>
      </p:sp>
      <p:sp>
        <p:nvSpPr>
          <p:cNvPr id="18" name="footer"/>
          <p:cNvSpPr txBox="1"/>
          <p:nvPr/>
        </p:nvSpPr>
        <p:spPr>
          <a:xfrm>
            <a:off x="594360" y="6446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>
                <a:solidFill>
                  <a:srgbClr val="7C8797"/>
                </a:solidFill>
                <a:latin typeface="Aptos"/>
              </a:rPr>
              <a:t>Smart Internship Tracker | Final Presentation | 15</a:t>
            </a:r>
            <a:endParaRPr lang="en-US"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e">
    <p:bg>
      <p:bgPr>
        <a:solidFill>
          <a:srgbClr val="1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868680" y="91440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Smart Internship Tracker</a:t>
            </a:r>
            <a:endParaRPr lang="en-US" sz="3500"/>
          </a:p>
        </p:txBody>
      </p:sp>
      <p:cxnSp>
        <p:nvCxnSpPr>
          <p:cNvPr id="3" name="rule"/>
          <p:cNvCxnSpPr/>
          <p:nvPr/>
        </p:nvCxnSpPr>
        <p:spPr>
          <a:xfrm>
            <a:off x="896112" y="1719072"/>
            <a:ext cx="1371600" cy="0"/>
          </a:xfrm>
          <a:prstGeom prst="line">
            <a:avLst/>
          </a:prstGeom>
          <a:ln w="32000">
            <a:solidFill>
              <a:srgbClr val="D99B2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896112" y="2148840"/>
            <a:ext cx="7498079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100" b="1">
                <a:solidFill>
                  <a:srgbClr val="DDEFE7"/>
                </a:solidFill>
                <a:latin typeface="Aptos"/>
              </a:rPr>
              <a:t>A focused tool for students to track applications, protect their data, and manage the internship search with confidence.</a:t>
            </a:r>
            <a:endParaRPr lang="en-US" sz="2100"/>
          </a:p>
        </p:txBody>
      </p:sp>
      <p:sp>
        <p:nvSpPr>
          <p:cNvPr id="5" name="demo"/>
          <p:cNvSpPr/>
          <p:nvPr/>
        </p:nvSpPr>
        <p:spPr>
          <a:xfrm>
            <a:off x="914400" y="3913632"/>
            <a:ext cx="4526280" cy="914400"/>
          </a:xfrm>
          <a:prstGeom prst="roundRect">
            <a:avLst/>
          </a:prstGeom>
          <a:solidFill>
            <a:srgbClr val="0C261F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1143000" y="4233672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550" b="1">
                <a:solidFill>
                  <a:srgbClr val="FFFFFF"/>
                </a:solidFill>
                <a:latin typeface="Aptos"/>
              </a:rPr>
              <a:t>Ready for live demo and questions</a:t>
            </a:r>
            <a:endParaRPr lang="en-US" sz="1550"/>
          </a:p>
        </p:txBody>
      </p:sp>
      <p:sp>
        <p:nvSpPr>
          <p:cNvPr id="7" name="text"/>
          <p:cNvSpPr txBox="1"/>
          <p:nvPr/>
        </p:nvSpPr>
        <p:spPr>
          <a:xfrm>
            <a:off x="7315200" y="52578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2850" b="1">
                <a:solidFill>
                  <a:srgbClr val="FFFFFF"/>
                </a:solidFill>
                <a:latin typeface="Aptos"/>
              </a:rPr>
              <a:t>Thank you</a:t>
            </a:r>
            <a:endParaRPr lang="en-US" sz="2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Internship Tracker">
  <a:themeElements>
    <a:clrScheme name="Tracker">
      <a:dk1>
        <a:srgbClr val="1E2735"/>
      </a:dk1>
      <a:lt1>
        <a:srgbClr val="FFFFFF"/>
      </a:lt1>
      <a:dk2>
        <a:srgbClr val="174C3C"/>
      </a:dk2>
      <a:lt2>
        <a:srgbClr val="F8FBFA"/>
      </a:lt2>
      <a:accent1>
        <a:srgbClr val="28785F"/>
      </a:accent1>
      <a:accent2>
        <a:srgbClr val="3157D5"/>
      </a:accent2>
      <a:accent3>
        <a:srgbClr val="D99B2B"/>
      </a:accent3>
      <a:accent4>
        <a:srgbClr val="D33B35"/>
      </a:accent4>
      <a:accent5>
        <a:srgbClr val="DFF7EA"/>
      </a:accent5>
      <a:accent6>
        <a:srgbClr val="657284"/>
      </a:accent6>
      <a:hlink>
        <a:srgbClr val="3157D5"/>
      </a:hlink>
      <a:folHlink>
        <a:srgbClr val="28785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Internship Tracker Final Presentation</dc:title>
  <dc:creator>Ali-Andro Thaxter team</dc:creator>
  <cp:lastModifiedBy>Codex</cp:lastModifiedBy>
</cp:coreProperties>
</file>